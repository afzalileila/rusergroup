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6" r:id="rId3"/>
    <p:sldId id="331" r:id="rId4"/>
    <p:sldId id="325" r:id="rId5"/>
    <p:sldId id="322" r:id="rId6"/>
    <p:sldId id="291" r:id="rId7"/>
    <p:sldId id="328" r:id="rId8"/>
    <p:sldId id="296" r:id="rId9"/>
    <p:sldId id="333" r:id="rId10"/>
    <p:sldId id="297" r:id="rId11"/>
    <p:sldId id="295" r:id="rId12"/>
    <p:sldId id="298" r:id="rId13"/>
    <p:sldId id="301" r:id="rId14"/>
    <p:sldId id="299" r:id="rId15"/>
    <p:sldId id="300" r:id="rId16"/>
    <p:sldId id="303" r:id="rId17"/>
    <p:sldId id="304" r:id="rId18"/>
    <p:sldId id="315" r:id="rId19"/>
    <p:sldId id="314" r:id="rId20"/>
    <p:sldId id="292" r:id="rId21"/>
    <p:sldId id="316" r:id="rId22"/>
    <p:sldId id="318" r:id="rId23"/>
    <p:sldId id="26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107E"/>
    <a:srgbClr val="93338A"/>
    <a:srgbClr val="0631BA"/>
    <a:srgbClr val="0040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177" autoAdjust="0"/>
    <p:restoredTop sz="94660"/>
  </p:normalViewPr>
  <p:slideViewPr>
    <p:cSldViewPr snapToGrid="0">
      <p:cViewPr varScale="1">
        <p:scale>
          <a:sx n="85" d="100"/>
          <a:sy n="85" d="100"/>
        </p:scale>
        <p:origin x="955"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4DED6-FB82-42D6-BB91-BD795348A5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88D045E-DC4C-4473-A571-20F050F33B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717A80-1D78-466B-B0D0-988ACCCED52F}"/>
              </a:ext>
            </a:extLst>
          </p:cNvPr>
          <p:cNvSpPr>
            <a:spLocks noGrp="1"/>
          </p:cNvSpPr>
          <p:nvPr>
            <p:ph type="dt" sz="half" idx="10"/>
          </p:nvPr>
        </p:nvSpPr>
        <p:spPr/>
        <p:txBody>
          <a:bodyPr/>
          <a:lstStyle/>
          <a:p>
            <a:fld id="{86B8285E-4889-47B0-94A7-36BA9541E16C}" type="datetimeFigureOut">
              <a:rPr lang="en-US" smtClean="0"/>
              <a:t>1/10/2018</a:t>
            </a:fld>
            <a:endParaRPr lang="en-US"/>
          </a:p>
        </p:txBody>
      </p:sp>
      <p:sp>
        <p:nvSpPr>
          <p:cNvPr id="5" name="Footer Placeholder 4">
            <a:extLst>
              <a:ext uri="{FF2B5EF4-FFF2-40B4-BE49-F238E27FC236}">
                <a16:creationId xmlns:a16="http://schemas.microsoft.com/office/drawing/2014/main" id="{4C9DC995-8652-4D95-958B-ACFD53AB03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9DB68D-16E7-412E-A77D-63AE1F325909}"/>
              </a:ext>
            </a:extLst>
          </p:cNvPr>
          <p:cNvSpPr>
            <a:spLocks noGrp="1"/>
          </p:cNvSpPr>
          <p:nvPr>
            <p:ph type="sldNum" sz="quarter" idx="12"/>
          </p:nvPr>
        </p:nvSpPr>
        <p:spPr/>
        <p:txBody>
          <a:bodyPr/>
          <a:lstStyle/>
          <a:p>
            <a:fld id="{FB2396D9-D77F-42E8-AA87-14870E727D35}" type="slidenum">
              <a:rPr lang="en-US" smtClean="0"/>
              <a:t>‹#›</a:t>
            </a:fld>
            <a:endParaRPr lang="en-US"/>
          </a:p>
        </p:txBody>
      </p:sp>
    </p:spTree>
    <p:extLst>
      <p:ext uri="{BB962C8B-B14F-4D97-AF65-F5344CB8AC3E}">
        <p14:creationId xmlns:p14="http://schemas.microsoft.com/office/powerpoint/2010/main" val="2855581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C0102-D677-49A1-8C52-AA5302DA71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F97CB5-BE7F-4520-B39C-37C71C5DED3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5F93EC-C327-4BDB-B832-64CF95C672B1}"/>
              </a:ext>
            </a:extLst>
          </p:cNvPr>
          <p:cNvSpPr>
            <a:spLocks noGrp="1"/>
          </p:cNvSpPr>
          <p:nvPr>
            <p:ph type="dt" sz="half" idx="10"/>
          </p:nvPr>
        </p:nvSpPr>
        <p:spPr/>
        <p:txBody>
          <a:bodyPr/>
          <a:lstStyle/>
          <a:p>
            <a:fld id="{86B8285E-4889-47B0-94A7-36BA9541E16C}" type="datetimeFigureOut">
              <a:rPr lang="en-US" smtClean="0"/>
              <a:t>1/10/2018</a:t>
            </a:fld>
            <a:endParaRPr lang="en-US"/>
          </a:p>
        </p:txBody>
      </p:sp>
      <p:sp>
        <p:nvSpPr>
          <p:cNvPr id="5" name="Footer Placeholder 4">
            <a:extLst>
              <a:ext uri="{FF2B5EF4-FFF2-40B4-BE49-F238E27FC236}">
                <a16:creationId xmlns:a16="http://schemas.microsoft.com/office/drawing/2014/main" id="{41B0B400-5005-41A4-93EB-FA44D65E15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48CE04-0AF0-4E0F-813B-01E3104AE10D}"/>
              </a:ext>
            </a:extLst>
          </p:cNvPr>
          <p:cNvSpPr>
            <a:spLocks noGrp="1"/>
          </p:cNvSpPr>
          <p:nvPr>
            <p:ph type="sldNum" sz="quarter" idx="12"/>
          </p:nvPr>
        </p:nvSpPr>
        <p:spPr/>
        <p:txBody>
          <a:bodyPr/>
          <a:lstStyle/>
          <a:p>
            <a:fld id="{FB2396D9-D77F-42E8-AA87-14870E727D35}" type="slidenum">
              <a:rPr lang="en-US" smtClean="0"/>
              <a:t>‹#›</a:t>
            </a:fld>
            <a:endParaRPr lang="en-US"/>
          </a:p>
        </p:txBody>
      </p:sp>
    </p:spTree>
    <p:extLst>
      <p:ext uri="{BB962C8B-B14F-4D97-AF65-F5344CB8AC3E}">
        <p14:creationId xmlns:p14="http://schemas.microsoft.com/office/powerpoint/2010/main" val="3773319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D6499-4022-4A5B-A8D4-AD1ECEBFC2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A27690-350F-44FD-8BB5-E16E8369B0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4AA44F2-B515-460B-AFD4-737D0A3EF64B}"/>
              </a:ext>
            </a:extLst>
          </p:cNvPr>
          <p:cNvSpPr>
            <a:spLocks noGrp="1"/>
          </p:cNvSpPr>
          <p:nvPr>
            <p:ph type="dt" sz="half" idx="10"/>
          </p:nvPr>
        </p:nvSpPr>
        <p:spPr/>
        <p:txBody>
          <a:bodyPr/>
          <a:lstStyle/>
          <a:p>
            <a:fld id="{86B8285E-4889-47B0-94A7-36BA9541E16C}" type="datetimeFigureOut">
              <a:rPr lang="en-US" smtClean="0"/>
              <a:t>1/10/2018</a:t>
            </a:fld>
            <a:endParaRPr lang="en-US"/>
          </a:p>
        </p:txBody>
      </p:sp>
      <p:sp>
        <p:nvSpPr>
          <p:cNvPr id="5" name="Footer Placeholder 4">
            <a:extLst>
              <a:ext uri="{FF2B5EF4-FFF2-40B4-BE49-F238E27FC236}">
                <a16:creationId xmlns:a16="http://schemas.microsoft.com/office/drawing/2014/main" id="{F42FE867-68F7-449E-9476-CA4C54CABC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521EC9-C5AD-4A1E-8CE2-C30CC893D83D}"/>
              </a:ext>
            </a:extLst>
          </p:cNvPr>
          <p:cNvSpPr>
            <a:spLocks noGrp="1"/>
          </p:cNvSpPr>
          <p:nvPr>
            <p:ph type="sldNum" sz="quarter" idx="12"/>
          </p:nvPr>
        </p:nvSpPr>
        <p:spPr/>
        <p:txBody>
          <a:bodyPr/>
          <a:lstStyle/>
          <a:p>
            <a:fld id="{FB2396D9-D77F-42E8-AA87-14870E727D35}" type="slidenum">
              <a:rPr lang="en-US" smtClean="0"/>
              <a:t>‹#›</a:t>
            </a:fld>
            <a:endParaRPr lang="en-US"/>
          </a:p>
        </p:txBody>
      </p:sp>
    </p:spTree>
    <p:extLst>
      <p:ext uri="{BB962C8B-B14F-4D97-AF65-F5344CB8AC3E}">
        <p14:creationId xmlns:p14="http://schemas.microsoft.com/office/powerpoint/2010/main" val="4164252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F534C-1F74-41B2-92E7-7B4FB1E66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F413E5-BBAA-4CE6-B45C-02BB355DE29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E3978C-A992-4741-A3CA-F9A74D82C41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C73A69-9CAA-42F9-9BB3-CD616D05A34B}"/>
              </a:ext>
            </a:extLst>
          </p:cNvPr>
          <p:cNvSpPr>
            <a:spLocks noGrp="1"/>
          </p:cNvSpPr>
          <p:nvPr>
            <p:ph type="dt" sz="half" idx="10"/>
          </p:nvPr>
        </p:nvSpPr>
        <p:spPr/>
        <p:txBody>
          <a:bodyPr/>
          <a:lstStyle/>
          <a:p>
            <a:fld id="{86B8285E-4889-47B0-94A7-36BA9541E16C}" type="datetimeFigureOut">
              <a:rPr lang="en-US" smtClean="0"/>
              <a:t>1/10/2018</a:t>
            </a:fld>
            <a:endParaRPr lang="en-US"/>
          </a:p>
        </p:txBody>
      </p:sp>
      <p:sp>
        <p:nvSpPr>
          <p:cNvPr id="6" name="Footer Placeholder 5">
            <a:extLst>
              <a:ext uri="{FF2B5EF4-FFF2-40B4-BE49-F238E27FC236}">
                <a16:creationId xmlns:a16="http://schemas.microsoft.com/office/drawing/2014/main" id="{8D31BC07-A1CD-46C8-87AA-CA4CD73ACD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B90490-7D29-4A4B-8B04-6475ABC243B9}"/>
              </a:ext>
            </a:extLst>
          </p:cNvPr>
          <p:cNvSpPr>
            <a:spLocks noGrp="1"/>
          </p:cNvSpPr>
          <p:nvPr>
            <p:ph type="sldNum" sz="quarter" idx="12"/>
          </p:nvPr>
        </p:nvSpPr>
        <p:spPr/>
        <p:txBody>
          <a:bodyPr/>
          <a:lstStyle/>
          <a:p>
            <a:fld id="{FB2396D9-D77F-42E8-AA87-14870E727D35}" type="slidenum">
              <a:rPr lang="en-US" smtClean="0"/>
              <a:t>‹#›</a:t>
            </a:fld>
            <a:endParaRPr lang="en-US"/>
          </a:p>
        </p:txBody>
      </p:sp>
    </p:spTree>
    <p:extLst>
      <p:ext uri="{BB962C8B-B14F-4D97-AF65-F5344CB8AC3E}">
        <p14:creationId xmlns:p14="http://schemas.microsoft.com/office/powerpoint/2010/main" val="120117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C267E-95CB-400A-980D-0B18F21382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D40570-6287-4558-B4E3-BD4717DED5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90E7C10-EDC4-47F5-85C7-16F02D7FECF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161273-BF07-40A5-926F-358B225DF4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5FF93F6-2663-4101-B62A-4EB459F3E4E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34945F-CAF4-4D1E-A164-8EF8877CE6A0}"/>
              </a:ext>
            </a:extLst>
          </p:cNvPr>
          <p:cNvSpPr>
            <a:spLocks noGrp="1"/>
          </p:cNvSpPr>
          <p:nvPr>
            <p:ph type="dt" sz="half" idx="10"/>
          </p:nvPr>
        </p:nvSpPr>
        <p:spPr/>
        <p:txBody>
          <a:bodyPr/>
          <a:lstStyle/>
          <a:p>
            <a:fld id="{86B8285E-4889-47B0-94A7-36BA9541E16C}" type="datetimeFigureOut">
              <a:rPr lang="en-US" smtClean="0"/>
              <a:t>1/10/2018</a:t>
            </a:fld>
            <a:endParaRPr lang="en-US"/>
          </a:p>
        </p:txBody>
      </p:sp>
      <p:sp>
        <p:nvSpPr>
          <p:cNvPr id="8" name="Footer Placeholder 7">
            <a:extLst>
              <a:ext uri="{FF2B5EF4-FFF2-40B4-BE49-F238E27FC236}">
                <a16:creationId xmlns:a16="http://schemas.microsoft.com/office/drawing/2014/main" id="{6EAAB875-84D7-46F1-B519-2B94ABFC64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E3DADD-6E31-4969-A1CA-3A8F6BE96B10}"/>
              </a:ext>
            </a:extLst>
          </p:cNvPr>
          <p:cNvSpPr>
            <a:spLocks noGrp="1"/>
          </p:cNvSpPr>
          <p:nvPr>
            <p:ph type="sldNum" sz="quarter" idx="12"/>
          </p:nvPr>
        </p:nvSpPr>
        <p:spPr/>
        <p:txBody>
          <a:bodyPr/>
          <a:lstStyle/>
          <a:p>
            <a:fld id="{FB2396D9-D77F-42E8-AA87-14870E727D35}" type="slidenum">
              <a:rPr lang="en-US" smtClean="0"/>
              <a:t>‹#›</a:t>
            </a:fld>
            <a:endParaRPr lang="en-US"/>
          </a:p>
        </p:txBody>
      </p:sp>
    </p:spTree>
    <p:extLst>
      <p:ext uri="{BB962C8B-B14F-4D97-AF65-F5344CB8AC3E}">
        <p14:creationId xmlns:p14="http://schemas.microsoft.com/office/powerpoint/2010/main" val="3625066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DA162-781C-4E15-8896-28F0D08EAA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75226E-4902-479D-8C77-38B3142B70C9}"/>
              </a:ext>
            </a:extLst>
          </p:cNvPr>
          <p:cNvSpPr>
            <a:spLocks noGrp="1"/>
          </p:cNvSpPr>
          <p:nvPr>
            <p:ph type="dt" sz="half" idx="10"/>
          </p:nvPr>
        </p:nvSpPr>
        <p:spPr/>
        <p:txBody>
          <a:bodyPr/>
          <a:lstStyle/>
          <a:p>
            <a:fld id="{86B8285E-4889-47B0-94A7-36BA9541E16C}" type="datetimeFigureOut">
              <a:rPr lang="en-US" smtClean="0"/>
              <a:t>1/10/2018</a:t>
            </a:fld>
            <a:endParaRPr lang="en-US"/>
          </a:p>
        </p:txBody>
      </p:sp>
      <p:sp>
        <p:nvSpPr>
          <p:cNvPr id="4" name="Footer Placeholder 3">
            <a:extLst>
              <a:ext uri="{FF2B5EF4-FFF2-40B4-BE49-F238E27FC236}">
                <a16:creationId xmlns:a16="http://schemas.microsoft.com/office/drawing/2014/main" id="{8DC208F8-135B-4749-9A72-7A9560FBC63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85DE03-C4FC-4BAE-ABA3-1318606CEB64}"/>
              </a:ext>
            </a:extLst>
          </p:cNvPr>
          <p:cNvSpPr>
            <a:spLocks noGrp="1"/>
          </p:cNvSpPr>
          <p:nvPr>
            <p:ph type="sldNum" sz="quarter" idx="12"/>
          </p:nvPr>
        </p:nvSpPr>
        <p:spPr/>
        <p:txBody>
          <a:bodyPr/>
          <a:lstStyle/>
          <a:p>
            <a:fld id="{FB2396D9-D77F-42E8-AA87-14870E727D35}" type="slidenum">
              <a:rPr lang="en-US" smtClean="0"/>
              <a:t>‹#›</a:t>
            </a:fld>
            <a:endParaRPr lang="en-US"/>
          </a:p>
        </p:txBody>
      </p:sp>
    </p:spTree>
    <p:extLst>
      <p:ext uri="{BB962C8B-B14F-4D97-AF65-F5344CB8AC3E}">
        <p14:creationId xmlns:p14="http://schemas.microsoft.com/office/powerpoint/2010/main" val="3855049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767015-A015-4AB2-9D2F-60D8974B0555}"/>
              </a:ext>
            </a:extLst>
          </p:cNvPr>
          <p:cNvSpPr>
            <a:spLocks noGrp="1"/>
          </p:cNvSpPr>
          <p:nvPr>
            <p:ph type="dt" sz="half" idx="10"/>
          </p:nvPr>
        </p:nvSpPr>
        <p:spPr/>
        <p:txBody>
          <a:bodyPr/>
          <a:lstStyle/>
          <a:p>
            <a:fld id="{86B8285E-4889-47B0-94A7-36BA9541E16C}" type="datetimeFigureOut">
              <a:rPr lang="en-US" smtClean="0"/>
              <a:t>1/10/2018</a:t>
            </a:fld>
            <a:endParaRPr lang="en-US"/>
          </a:p>
        </p:txBody>
      </p:sp>
      <p:sp>
        <p:nvSpPr>
          <p:cNvPr id="3" name="Footer Placeholder 2">
            <a:extLst>
              <a:ext uri="{FF2B5EF4-FFF2-40B4-BE49-F238E27FC236}">
                <a16:creationId xmlns:a16="http://schemas.microsoft.com/office/drawing/2014/main" id="{7FA077E1-EE5F-4707-9FEB-C82A392F5D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18261A2-9F12-4A9D-8B21-33510EFDDEDB}"/>
              </a:ext>
            </a:extLst>
          </p:cNvPr>
          <p:cNvSpPr>
            <a:spLocks noGrp="1"/>
          </p:cNvSpPr>
          <p:nvPr>
            <p:ph type="sldNum" sz="quarter" idx="12"/>
          </p:nvPr>
        </p:nvSpPr>
        <p:spPr/>
        <p:txBody>
          <a:bodyPr/>
          <a:lstStyle/>
          <a:p>
            <a:fld id="{FB2396D9-D77F-42E8-AA87-14870E727D35}" type="slidenum">
              <a:rPr lang="en-US" smtClean="0"/>
              <a:t>‹#›</a:t>
            </a:fld>
            <a:endParaRPr lang="en-US"/>
          </a:p>
        </p:txBody>
      </p:sp>
    </p:spTree>
    <p:extLst>
      <p:ext uri="{BB962C8B-B14F-4D97-AF65-F5344CB8AC3E}">
        <p14:creationId xmlns:p14="http://schemas.microsoft.com/office/powerpoint/2010/main" val="1241210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B849D-B146-48A2-B322-1648A3067F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5DE75F-DC95-4F2E-AD3A-203CCDE441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3BC1DD-A525-4608-974E-AA6D0A148A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C9E01D-3DCE-48AB-9553-522CED770AEC}"/>
              </a:ext>
            </a:extLst>
          </p:cNvPr>
          <p:cNvSpPr>
            <a:spLocks noGrp="1"/>
          </p:cNvSpPr>
          <p:nvPr>
            <p:ph type="dt" sz="half" idx="10"/>
          </p:nvPr>
        </p:nvSpPr>
        <p:spPr/>
        <p:txBody>
          <a:bodyPr/>
          <a:lstStyle/>
          <a:p>
            <a:fld id="{86B8285E-4889-47B0-94A7-36BA9541E16C}" type="datetimeFigureOut">
              <a:rPr lang="en-US" smtClean="0"/>
              <a:t>1/10/2018</a:t>
            </a:fld>
            <a:endParaRPr lang="en-US"/>
          </a:p>
        </p:txBody>
      </p:sp>
      <p:sp>
        <p:nvSpPr>
          <p:cNvPr id="6" name="Footer Placeholder 5">
            <a:extLst>
              <a:ext uri="{FF2B5EF4-FFF2-40B4-BE49-F238E27FC236}">
                <a16:creationId xmlns:a16="http://schemas.microsoft.com/office/drawing/2014/main" id="{53C070C7-FADB-430C-A37A-CD40AC2233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7E37C1-8D3E-421D-ACE1-B89712DE41D0}"/>
              </a:ext>
            </a:extLst>
          </p:cNvPr>
          <p:cNvSpPr>
            <a:spLocks noGrp="1"/>
          </p:cNvSpPr>
          <p:nvPr>
            <p:ph type="sldNum" sz="quarter" idx="12"/>
          </p:nvPr>
        </p:nvSpPr>
        <p:spPr/>
        <p:txBody>
          <a:bodyPr/>
          <a:lstStyle/>
          <a:p>
            <a:fld id="{FB2396D9-D77F-42E8-AA87-14870E727D35}" type="slidenum">
              <a:rPr lang="en-US" smtClean="0"/>
              <a:t>‹#›</a:t>
            </a:fld>
            <a:endParaRPr lang="en-US"/>
          </a:p>
        </p:txBody>
      </p:sp>
    </p:spTree>
    <p:extLst>
      <p:ext uri="{BB962C8B-B14F-4D97-AF65-F5344CB8AC3E}">
        <p14:creationId xmlns:p14="http://schemas.microsoft.com/office/powerpoint/2010/main" val="464720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62CB5-B3C5-4C2C-AD50-BEB665CB0C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57EA4E-4ACA-4D05-B521-C909179C42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9BB236-9A67-45C2-A64A-6E03C3ECEA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5987340-D766-43F1-ABAB-83FE1C7EFE54}"/>
              </a:ext>
            </a:extLst>
          </p:cNvPr>
          <p:cNvSpPr>
            <a:spLocks noGrp="1"/>
          </p:cNvSpPr>
          <p:nvPr>
            <p:ph type="dt" sz="half" idx="10"/>
          </p:nvPr>
        </p:nvSpPr>
        <p:spPr/>
        <p:txBody>
          <a:bodyPr/>
          <a:lstStyle/>
          <a:p>
            <a:fld id="{86B8285E-4889-47B0-94A7-36BA9541E16C}" type="datetimeFigureOut">
              <a:rPr lang="en-US" smtClean="0"/>
              <a:t>1/10/2018</a:t>
            </a:fld>
            <a:endParaRPr lang="en-US"/>
          </a:p>
        </p:txBody>
      </p:sp>
      <p:sp>
        <p:nvSpPr>
          <p:cNvPr id="6" name="Footer Placeholder 5">
            <a:extLst>
              <a:ext uri="{FF2B5EF4-FFF2-40B4-BE49-F238E27FC236}">
                <a16:creationId xmlns:a16="http://schemas.microsoft.com/office/drawing/2014/main" id="{B04B9771-BB89-46BF-8D5E-7C53498F3D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856837-B800-42CA-84D9-404793FC32E9}"/>
              </a:ext>
            </a:extLst>
          </p:cNvPr>
          <p:cNvSpPr>
            <a:spLocks noGrp="1"/>
          </p:cNvSpPr>
          <p:nvPr>
            <p:ph type="sldNum" sz="quarter" idx="12"/>
          </p:nvPr>
        </p:nvSpPr>
        <p:spPr/>
        <p:txBody>
          <a:bodyPr/>
          <a:lstStyle/>
          <a:p>
            <a:fld id="{FB2396D9-D77F-42E8-AA87-14870E727D35}" type="slidenum">
              <a:rPr lang="en-US" smtClean="0"/>
              <a:t>‹#›</a:t>
            </a:fld>
            <a:endParaRPr lang="en-US"/>
          </a:p>
        </p:txBody>
      </p:sp>
    </p:spTree>
    <p:extLst>
      <p:ext uri="{BB962C8B-B14F-4D97-AF65-F5344CB8AC3E}">
        <p14:creationId xmlns:p14="http://schemas.microsoft.com/office/powerpoint/2010/main" val="2281887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ED92C-B6E6-4093-9081-E661E382C5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AD99A6-5592-4657-8009-17FDD328733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57811-3AC0-4C48-8CDC-9ED09BAA4C99}"/>
              </a:ext>
            </a:extLst>
          </p:cNvPr>
          <p:cNvSpPr>
            <a:spLocks noGrp="1"/>
          </p:cNvSpPr>
          <p:nvPr>
            <p:ph type="dt" sz="half" idx="10"/>
          </p:nvPr>
        </p:nvSpPr>
        <p:spPr/>
        <p:txBody>
          <a:bodyPr/>
          <a:lstStyle/>
          <a:p>
            <a:fld id="{86B8285E-4889-47B0-94A7-36BA9541E16C}" type="datetimeFigureOut">
              <a:rPr lang="en-US" smtClean="0"/>
              <a:t>1/10/2018</a:t>
            </a:fld>
            <a:endParaRPr lang="en-US"/>
          </a:p>
        </p:txBody>
      </p:sp>
      <p:sp>
        <p:nvSpPr>
          <p:cNvPr id="5" name="Footer Placeholder 4">
            <a:extLst>
              <a:ext uri="{FF2B5EF4-FFF2-40B4-BE49-F238E27FC236}">
                <a16:creationId xmlns:a16="http://schemas.microsoft.com/office/drawing/2014/main" id="{4D1E6A69-6C1F-417B-B421-CC413A9E28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F26893-1FD3-42FA-B3FE-85D2A6460320}"/>
              </a:ext>
            </a:extLst>
          </p:cNvPr>
          <p:cNvSpPr>
            <a:spLocks noGrp="1"/>
          </p:cNvSpPr>
          <p:nvPr>
            <p:ph type="sldNum" sz="quarter" idx="12"/>
          </p:nvPr>
        </p:nvSpPr>
        <p:spPr/>
        <p:txBody>
          <a:bodyPr/>
          <a:lstStyle/>
          <a:p>
            <a:fld id="{FB2396D9-D77F-42E8-AA87-14870E727D35}" type="slidenum">
              <a:rPr lang="en-US" smtClean="0"/>
              <a:t>‹#›</a:t>
            </a:fld>
            <a:endParaRPr lang="en-US"/>
          </a:p>
        </p:txBody>
      </p:sp>
    </p:spTree>
    <p:extLst>
      <p:ext uri="{BB962C8B-B14F-4D97-AF65-F5344CB8AC3E}">
        <p14:creationId xmlns:p14="http://schemas.microsoft.com/office/powerpoint/2010/main" val="25033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8455CC-1EE2-4494-9AD2-352D2A6CD5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3E8496-DE65-4B84-A35C-8DAD5172920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FB1A55-FD5A-44C8-A85F-6458E25D9F78}"/>
              </a:ext>
            </a:extLst>
          </p:cNvPr>
          <p:cNvSpPr>
            <a:spLocks noGrp="1"/>
          </p:cNvSpPr>
          <p:nvPr>
            <p:ph type="dt" sz="half" idx="10"/>
          </p:nvPr>
        </p:nvSpPr>
        <p:spPr/>
        <p:txBody>
          <a:bodyPr/>
          <a:lstStyle/>
          <a:p>
            <a:fld id="{86B8285E-4889-47B0-94A7-36BA9541E16C}" type="datetimeFigureOut">
              <a:rPr lang="en-US" smtClean="0"/>
              <a:t>1/10/2018</a:t>
            </a:fld>
            <a:endParaRPr lang="en-US"/>
          </a:p>
        </p:txBody>
      </p:sp>
      <p:sp>
        <p:nvSpPr>
          <p:cNvPr id="5" name="Footer Placeholder 4">
            <a:extLst>
              <a:ext uri="{FF2B5EF4-FFF2-40B4-BE49-F238E27FC236}">
                <a16:creationId xmlns:a16="http://schemas.microsoft.com/office/drawing/2014/main" id="{489417C7-EEB3-49E8-A8D5-C773C05C24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A83060-22BC-4CD3-AAC0-DE0EEB3573B3}"/>
              </a:ext>
            </a:extLst>
          </p:cNvPr>
          <p:cNvSpPr>
            <a:spLocks noGrp="1"/>
          </p:cNvSpPr>
          <p:nvPr>
            <p:ph type="sldNum" sz="quarter" idx="12"/>
          </p:nvPr>
        </p:nvSpPr>
        <p:spPr/>
        <p:txBody>
          <a:bodyPr/>
          <a:lstStyle/>
          <a:p>
            <a:fld id="{FB2396D9-D77F-42E8-AA87-14870E727D35}" type="slidenum">
              <a:rPr lang="en-US" smtClean="0"/>
              <a:t>‹#›</a:t>
            </a:fld>
            <a:endParaRPr lang="en-US"/>
          </a:p>
        </p:txBody>
      </p:sp>
    </p:spTree>
    <p:extLst>
      <p:ext uri="{BB962C8B-B14F-4D97-AF65-F5344CB8AC3E}">
        <p14:creationId xmlns:p14="http://schemas.microsoft.com/office/powerpoint/2010/main" val="2592672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1CE7DC-6C5B-401A-A30E-E00FC75897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8320E3-75AA-43E0-A9D3-8506483451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B116B0-8F6A-4689-A6D8-AE0D481D56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B8285E-4889-47B0-94A7-36BA9541E16C}" type="datetimeFigureOut">
              <a:rPr lang="en-US" smtClean="0"/>
              <a:t>1/10/2018</a:t>
            </a:fld>
            <a:endParaRPr lang="en-US"/>
          </a:p>
        </p:txBody>
      </p:sp>
      <p:sp>
        <p:nvSpPr>
          <p:cNvPr id="5" name="Footer Placeholder 4">
            <a:extLst>
              <a:ext uri="{FF2B5EF4-FFF2-40B4-BE49-F238E27FC236}">
                <a16:creationId xmlns:a16="http://schemas.microsoft.com/office/drawing/2014/main" id="{7FD45354-00C3-45C1-BBB6-2DAEE7B6B8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B899F68-C25D-4E2F-80BB-83BA5B05C5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2396D9-D77F-42E8-AA87-14870E727D35}" type="slidenum">
              <a:rPr lang="en-US" smtClean="0"/>
              <a:t>‹#›</a:t>
            </a:fld>
            <a:endParaRPr lang="en-US"/>
          </a:p>
        </p:txBody>
      </p:sp>
    </p:spTree>
    <p:extLst>
      <p:ext uri="{BB962C8B-B14F-4D97-AF65-F5344CB8AC3E}">
        <p14:creationId xmlns:p14="http://schemas.microsoft.com/office/powerpoint/2010/main" val="1393632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cookbook-r.com/Graphs/index.html" TargetMode="External"/><Relationship Id="rId2" Type="http://schemas.openxmlformats.org/officeDocument/2006/relationships/hyperlink" Target="http://ggplot2.tidyverse.org/" TargetMode="External"/><Relationship Id="rId1" Type="http://schemas.openxmlformats.org/officeDocument/2006/relationships/slideLayout" Target="../slideLayouts/slideLayout2.xml"/><Relationship Id="rId6" Type="http://schemas.openxmlformats.org/officeDocument/2006/relationships/hyperlink" Target="http://r4ds.had.co.nz/" TargetMode="External"/><Relationship Id="rId5" Type="http://schemas.openxmlformats.org/officeDocument/2006/relationships/hyperlink" Target="http://bit.ly/ggplot2-cheatsheet" TargetMode="External"/><Relationship Id="rId4" Type="http://schemas.openxmlformats.org/officeDocument/2006/relationships/hyperlink" Target="http://ggplot2.org/boo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68946-35B1-4E41-B092-8F954340D104}"/>
              </a:ext>
            </a:extLst>
          </p:cNvPr>
          <p:cNvSpPr>
            <a:spLocks noGrp="1"/>
          </p:cNvSpPr>
          <p:nvPr>
            <p:ph type="ctrTitle"/>
          </p:nvPr>
        </p:nvSpPr>
        <p:spPr>
          <a:xfrm>
            <a:off x="1585912" y="1155258"/>
            <a:ext cx="9144000" cy="2387600"/>
          </a:xfrm>
        </p:spPr>
        <p:txBody>
          <a:bodyPr anchor="ctr">
            <a:normAutofit/>
          </a:bodyPr>
          <a:lstStyle/>
          <a:p>
            <a:pPr algn="l"/>
            <a:r>
              <a:rPr lang="en-US" sz="4000" dirty="0">
                <a:latin typeface="Arial Black" panose="020B0A04020102020204" pitchFamily="34" charset="0"/>
                <a:cs typeface="Arial" panose="020B0604020202020204" pitchFamily="34" charset="0"/>
              </a:rPr>
              <a:t>R Basics: </a:t>
            </a:r>
            <a:br>
              <a:rPr lang="en-US" sz="4000" dirty="0">
                <a:latin typeface="Arial Black" panose="020B0A04020102020204" pitchFamily="34" charset="0"/>
                <a:cs typeface="Arial" panose="020B0604020202020204" pitchFamily="34" charset="0"/>
              </a:rPr>
            </a:br>
            <a:r>
              <a:rPr lang="en-US" sz="4000" dirty="0">
                <a:latin typeface="Arial Black" panose="020B0A04020102020204" pitchFamily="34" charset="0"/>
                <a:cs typeface="Arial" panose="020B0604020202020204" pitchFamily="34" charset="0"/>
              </a:rPr>
              <a:t>Data Visualization with ggplot2  </a:t>
            </a:r>
          </a:p>
        </p:txBody>
      </p:sp>
      <p:sp>
        <p:nvSpPr>
          <p:cNvPr id="3" name="Subtitle 2">
            <a:extLst>
              <a:ext uri="{FF2B5EF4-FFF2-40B4-BE49-F238E27FC236}">
                <a16:creationId xmlns:a16="http://schemas.microsoft.com/office/drawing/2014/main" id="{16111C0B-46EA-48D1-8EB2-A532B533A52C}"/>
              </a:ext>
            </a:extLst>
          </p:cNvPr>
          <p:cNvSpPr>
            <a:spLocks noGrp="1"/>
          </p:cNvSpPr>
          <p:nvPr>
            <p:ph type="subTitle" idx="1"/>
          </p:nvPr>
        </p:nvSpPr>
        <p:spPr>
          <a:xfrm>
            <a:off x="1524000" y="3602038"/>
            <a:ext cx="9144000" cy="1655762"/>
          </a:xfrm>
        </p:spPr>
        <p:txBody>
          <a:bodyPr anchor="t">
            <a:normAutofit/>
          </a:bodyPr>
          <a:lstStyle/>
          <a:p>
            <a:pPr algn="l"/>
            <a:r>
              <a:rPr lang="en-US" sz="2000" dirty="0">
                <a:latin typeface="Arial" panose="020B0604020202020204" pitchFamily="34" charset="0"/>
                <a:cs typeface="Arial" panose="020B0604020202020204" pitchFamily="34" charset="0"/>
              </a:rPr>
              <a:t>Leila </a:t>
            </a:r>
            <a:r>
              <a:rPr lang="en-US" sz="2000" dirty="0" err="1">
                <a:latin typeface="Arial" panose="020B0604020202020204" pitchFamily="34" charset="0"/>
                <a:cs typeface="Arial" panose="020B0604020202020204" pitchFamily="34" charset="0"/>
              </a:rPr>
              <a:t>Afzali</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3041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2C365-2C1B-4FE8-8225-4134D3C907B5}"/>
              </a:ext>
            </a:extLst>
          </p:cNvPr>
          <p:cNvSpPr>
            <a:spLocks noGrp="1"/>
          </p:cNvSpPr>
          <p:nvPr>
            <p:ph type="title"/>
          </p:nvPr>
        </p:nvSpPr>
        <p:spPr>
          <a:xfrm>
            <a:off x="838200" y="347344"/>
            <a:ext cx="10515600" cy="963613"/>
          </a:xfrm>
        </p:spPr>
        <p:txBody>
          <a:bodyPr>
            <a:normAutofit/>
          </a:bodyPr>
          <a:lstStyle/>
          <a:p>
            <a:pPr algn="ctr"/>
            <a:r>
              <a:rPr lang="en-US" sz="3800" dirty="0">
                <a:latin typeface="Arial" panose="020B0604020202020204" pitchFamily="34" charset="0"/>
                <a:cs typeface="Arial" panose="020B0604020202020204" pitchFamily="34" charset="0"/>
              </a:rPr>
              <a:t>R Package: ggplot2</a:t>
            </a:r>
          </a:p>
        </p:txBody>
      </p:sp>
      <p:sp>
        <p:nvSpPr>
          <p:cNvPr id="8" name="Content Placeholder 7">
            <a:extLst>
              <a:ext uri="{FF2B5EF4-FFF2-40B4-BE49-F238E27FC236}">
                <a16:creationId xmlns:a16="http://schemas.microsoft.com/office/drawing/2014/main" id="{8F96E6D7-DFD3-4D05-84CD-51E48454D83B}"/>
              </a:ext>
            </a:extLst>
          </p:cNvPr>
          <p:cNvSpPr>
            <a:spLocks noGrp="1"/>
          </p:cNvSpPr>
          <p:nvPr>
            <p:ph idx="1"/>
          </p:nvPr>
        </p:nvSpPr>
        <p:spPr>
          <a:xfrm>
            <a:off x="457201" y="1223963"/>
            <a:ext cx="11115673" cy="5548313"/>
          </a:xfrm>
        </p:spPr>
        <p:txBody>
          <a:bodyPr>
            <a:noAutofit/>
          </a:bodyPr>
          <a:lstStyle/>
          <a:p>
            <a:pPr marL="0" indent="0">
              <a:buNone/>
            </a:pPr>
            <a:endParaRPr lang="en-US" sz="2000" b="1" dirty="0">
              <a:latin typeface="Arial" panose="020B0604020202020204" pitchFamily="34" charset="0"/>
              <a:cs typeface="Arial" panose="020B0604020202020204" pitchFamily="34" charset="0"/>
            </a:endParaRPr>
          </a:p>
          <a:p>
            <a:pPr marL="0" indent="0">
              <a:buNone/>
            </a:pPr>
            <a:r>
              <a:rPr lang="en-US" sz="2000" b="1" dirty="0">
                <a:latin typeface="Arial" panose="020B0604020202020204" pitchFamily="34" charset="0"/>
                <a:cs typeface="Arial" panose="020B0604020202020204" pitchFamily="34" charset="0"/>
              </a:rPr>
              <a:t>Used to produce statistical graphics</a:t>
            </a:r>
            <a:r>
              <a:rPr lang="en-US" sz="2000" dirty="0">
                <a:latin typeface="Arial" panose="020B0604020202020204" pitchFamily="34" charset="0"/>
                <a:cs typeface="Arial" panose="020B0604020202020204" pitchFamily="34" charset="0"/>
              </a:rPr>
              <a:t>, author = Hadley Wickham</a:t>
            </a:r>
          </a:p>
          <a:p>
            <a:pPr marL="457200" lvl="1" indent="0">
              <a:buNone/>
            </a:pPr>
            <a:r>
              <a:rPr lang="en-US" sz="2000" dirty="0">
                <a:latin typeface="Arial" panose="020B0604020202020204" pitchFamily="34" charset="0"/>
                <a:cs typeface="Arial" panose="020B0604020202020204" pitchFamily="34" charset="0"/>
              </a:rPr>
              <a:t> "attempt to take the good things about base and lattice graphics</a:t>
            </a:r>
          </a:p>
          <a:p>
            <a:pPr marL="457200" lvl="1" indent="0">
              <a:buNone/>
            </a:pPr>
            <a:r>
              <a:rPr lang="en-US" sz="2000" dirty="0">
                <a:latin typeface="Arial" panose="020B0604020202020204" pitchFamily="34" charset="0"/>
                <a:cs typeface="Arial" panose="020B0604020202020204" pitchFamily="34" charset="0"/>
              </a:rPr>
              <a:t> and improve on them with a strong, underlying model “</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based on </a:t>
            </a:r>
            <a:r>
              <a:rPr lang="en-US" sz="2000" i="1" dirty="0">
                <a:latin typeface="Arial" panose="020B0604020202020204" pitchFamily="34" charset="0"/>
                <a:cs typeface="Arial" panose="020B0604020202020204" pitchFamily="34" charset="0"/>
              </a:rPr>
              <a:t>The Grammar of Graphics </a:t>
            </a:r>
            <a:r>
              <a:rPr lang="en-US" sz="2000" dirty="0">
                <a:latin typeface="Arial" panose="020B0604020202020204" pitchFamily="34" charset="0"/>
                <a:cs typeface="Arial" panose="020B0604020202020204" pitchFamily="34" charset="0"/>
              </a:rPr>
              <a:t>by Leland Wilkinson, 2005</a:t>
            </a:r>
          </a:p>
          <a:p>
            <a:pPr marL="457200" lvl="1" indent="0">
              <a:buNone/>
            </a:pPr>
            <a:r>
              <a:rPr lang="en-US" sz="2000" dirty="0">
                <a:latin typeface="Arial" panose="020B0604020202020204" pitchFamily="34" charset="0"/>
                <a:cs typeface="Arial" panose="020B0604020202020204" pitchFamily="34" charset="0"/>
              </a:rPr>
              <a:t> "... describes the meaning of what we do when we construct</a:t>
            </a:r>
          </a:p>
          <a:p>
            <a:pPr marL="457200" lvl="1" indent="0">
              <a:buNone/>
            </a:pPr>
            <a:r>
              <a:rPr lang="en-US" sz="2000" dirty="0">
                <a:latin typeface="Arial" panose="020B0604020202020204" pitchFamily="34" charset="0"/>
                <a:cs typeface="Arial" panose="020B0604020202020204" pitchFamily="34" charset="0"/>
              </a:rPr>
              <a:t> statistical graphics ... More than a taxonomy ... Computational</a:t>
            </a:r>
          </a:p>
          <a:p>
            <a:pPr marL="457200" lvl="1" indent="0">
              <a:buNone/>
            </a:pPr>
            <a:r>
              <a:rPr lang="en-US" sz="2000" dirty="0">
                <a:latin typeface="Arial" panose="020B0604020202020204" pitchFamily="34" charset="0"/>
                <a:cs typeface="Arial" panose="020B0604020202020204" pitchFamily="34" charset="0"/>
              </a:rPr>
              <a:t> system based on the underlying mathematics of representing</a:t>
            </a:r>
          </a:p>
          <a:p>
            <a:pPr marL="457200" lvl="1" indent="0">
              <a:buNone/>
            </a:pPr>
            <a:r>
              <a:rPr lang="en-US" sz="2000" dirty="0">
                <a:latin typeface="Arial" panose="020B0604020202020204" pitchFamily="34" charset="0"/>
                <a:cs typeface="Arial" panose="020B0604020202020204" pitchFamily="34" charset="0"/>
              </a:rPr>
              <a:t> statistical functions of data."</a:t>
            </a:r>
          </a:p>
          <a:p>
            <a:pPr marL="457200" lvl="1" indent="0">
              <a:buNone/>
            </a:pPr>
            <a:r>
              <a:rPr lang="en-US" sz="2000" dirty="0">
                <a:latin typeface="Arial" panose="020B0604020202020204" pitchFamily="34" charset="0"/>
                <a:cs typeface="Arial" panose="020B0604020202020204" pitchFamily="34" charset="0"/>
              </a:rPr>
              <a:t> - does not limit developer to a set of pre-specified graphics</a:t>
            </a:r>
          </a:p>
          <a:p>
            <a:pPr marL="457200" lvl="1"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adds some concepts to grammar which allow it to work well with R</a:t>
            </a:r>
          </a:p>
        </p:txBody>
      </p:sp>
      <p:pic>
        <p:nvPicPr>
          <p:cNvPr id="9" name="Picture 8">
            <a:extLst>
              <a:ext uri="{FF2B5EF4-FFF2-40B4-BE49-F238E27FC236}">
                <a16:creationId xmlns:a16="http://schemas.microsoft.com/office/drawing/2014/main" id="{05EAFA87-B65D-4065-9DC0-F8F01DEDFD11}"/>
              </a:ext>
            </a:extLst>
          </p:cNvPr>
          <p:cNvPicPr>
            <a:picLocks noChangeAspect="1"/>
          </p:cNvPicPr>
          <p:nvPr/>
        </p:nvPicPr>
        <p:blipFill>
          <a:blip r:embed="rId2"/>
          <a:stretch>
            <a:fillRect/>
          </a:stretch>
        </p:blipFill>
        <p:spPr>
          <a:xfrm>
            <a:off x="9167811" y="636746"/>
            <a:ext cx="1748623" cy="2651760"/>
          </a:xfrm>
          <a:prstGeom prst="rect">
            <a:avLst/>
          </a:prstGeom>
        </p:spPr>
      </p:pic>
      <p:pic>
        <p:nvPicPr>
          <p:cNvPr id="10" name="Picture 9">
            <a:extLst>
              <a:ext uri="{FF2B5EF4-FFF2-40B4-BE49-F238E27FC236}">
                <a16:creationId xmlns:a16="http://schemas.microsoft.com/office/drawing/2014/main" id="{4DAC11F9-98F4-419E-89BA-6797AFC2AA0F}"/>
              </a:ext>
            </a:extLst>
          </p:cNvPr>
          <p:cNvPicPr>
            <a:picLocks noChangeAspect="1"/>
          </p:cNvPicPr>
          <p:nvPr/>
        </p:nvPicPr>
        <p:blipFill>
          <a:blip r:embed="rId3"/>
          <a:stretch>
            <a:fillRect/>
          </a:stretch>
        </p:blipFill>
        <p:spPr>
          <a:xfrm>
            <a:off x="9174122" y="3429000"/>
            <a:ext cx="1742312" cy="2651760"/>
          </a:xfrm>
          <a:prstGeom prst="rect">
            <a:avLst/>
          </a:prstGeom>
        </p:spPr>
      </p:pic>
    </p:spTree>
    <p:extLst>
      <p:ext uri="{BB962C8B-B14F-4D97-AF65-F5344CB8AC3E}">
        <p14:creationId xmlns:p14="http://schemas.microsoft.com/office/powerpoint/2010/main" val="249917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DBBE3-3CC1-4AE3-B81C-7B08B5933C62}"/>
              </a:ext>
            </a:extLst>
          </p:cNvPr>
          <p:cNvSpPr>
            <a:spLocks noGrp="1"/>
          </p:cNvSpPr>
          <p:nvPr>
            <p:ph type="title"/>
          </p:nvPr>
        </p:nvSpPr>
        <p:spPr>
          <a:xfrm>
            <a:off x="838200" y="365125"/>
            <a:ext cx="10515600" cy="1001713"/>
          </a:xfrm>
        </p:spPr>
        <p:txBody>
          <a:bodyPr>
            <a:normAutofit/>
          </a:bodyPr>
          <a:lstStyle/>
          <a:p>
            <a:pPr algn="ctr"/>
            <a:r>
              <a:rPr lang="en-US" sz="3800" dirty="0">
                <a:latin typeface="Arial" panose="020B0604020202020204" pitchFamily="34" charset="0"/>
                <a:cs typeface="Arial" panose="020B0604020202020204" pitchFamily="34" charset="0"/>
              </a:rPr>
              <a:t>ggplot2</a:t>
            </a:r>
          </a:p>
        </p:txBody>
      </p:sp>
      <p:sp>
        <p:nvSpPr>
          <p:cNvPr id="3" name="Content Placeholder 2">
            <a:extLst>
              <a:ext uri="{FF2B5EF4-FFF2-40B4-BE49-F238E27FC236}">
                <a16:creationId xmlns:a16="http://schemas.microsoft.com/office/drawing/2014/main" id="{7AF74425-0F1D-4363-990E-55E53D09B9C9}"/>
              </a:ext>
            </a:extLst>
          </p:cNvPr>
          <p:cNvSpPr>
            <a:spLocks noGrp="1"/>
          </p:cNvSpPr>
          <p:nvPr>
            <p:ph idx="1"/>
          </p:nvPr>
        </p:nvSpPr>
        <p:spPr>
          <a:xfrm>
            <a:off x="838200" y="1185864"/>
            <a:ext cx="11101388" cy="5172074"/>
          </a:xfrm>
        </p:spPr>
        <p:txBody>
          <a:bodyPr>
            <a:normAutofit fontScale="92500" lnSpcReduction="10000"/>
          </a:bodyPr>
          <a:lstStyle/>
          <a:p>
            <a:pPr marL="0" indent="0">
              <a:lnSpc>
                <a:spcPct val="110000"/>
              </a:lnSpc>
              <a:spcBef>
                <a:spcPts val="600"/>
              </a:spcBef>
              <a:spcAft>
                <a:spcPts val="600"/>
              </a:spcAft>
              <a:buNone/>
            </a:pPr>
            <a:r>
              <a:rPr lang="en-US" sz="2400" dirty="0">
                <a:latin typeface="Arial" panose="020B0604020202020204" pitchFamily="34" charset="0"/>
                <a:cs typeface="Arial" panose="020B0604020202020204" pitchFamily="34" charset="0"/>
              </a:rPr>
              <a:t>ggplot2 provides two ways to produce plot objects:</a:t>
            </a:r>
          </a:p>
          <a:p>
            <a:pPr marL="457200" lvl="1" indent="0">
              <a:lnSpc>
                <a:spcPct val="110000"/>
              </a:lnSpc>
              <a:spcBef>
                <a:spcPts val="600"/>
              </a:spcBef>
              <a:spcAft>
                <a:spcPts val="600"/>
              </a:spcAft>
              <a:buNone/>
            </a:pPr>
            <a:r>
              <a:rPr lang="en-US" sz="2200" dirty="0">
                <a:latin typeface="Arial" panose="020B0604020202020204" pitchFamily="34" charset="0"/>
                <a:cs typeface="Arial" panose="020B0604020202020204" pitchFamily="34" charset="0"/>
              </a:rPr>
              <a:t> </a:t>
            </a:r>
            <a:r>
              <a:rPr lang="en-US" sz="2300" b="1" dirty="0" err="1">
                <a:latin typeface="Arial" panose="020B0604020202020204" pitchFamily="34" charset="0"/>
                <a:cs typeface="Arial" panose="020B0604020202020204" pitchFamily="34" charset="0"/>
              </a:rPr>
              <a:t>qplot</a:t>
            </a:r>
            <a:r>
              <a:rPr lang="en-US" sz="2300" b="1" dirty="0">
                <a:latin typeface="Arial" panose="020B0604020202020204" pitchFamily="34" charset="0"/>
                <a:cs typeface="Arial" panose="020B0604020202020204" pitchFamily="34" charset="0"/>
              </a:rPr>
              <a:t>() </a:t>
            </a:r>
            <a:r>
              <a:rPr lang="en-US" sz="2300" dirty="0">
                <a:latin typeface="Arial" panose="020B0604020202020204" pitchFamily="34" charset="0"/>
                <a:cs typeface="Arial" panose="020B0604020202020204" pitchFamily="34" charset="0"/>
              </a:rPr>
              <a:t>#</a:t>
            </a:r>
            <a:r>
              <a:rPr lang="en-US" sz="2300" b="1" dirty="0">
                <a:solidFill>
                  <a:srgbClr val="93338A"/>
                </a:solidFill>
                <a:latin typeface="Arial" panose="020B0604020202020204" pitchFamily="34" charset="0"/>
                <a:cs typeface="Arial" panose="020B0604020202020204" pitchFamily="34" charset="0"/>
              </a:rPr>
              <a:t>q</a:t>
            </a:r>
            <a:r>
              <a:rPr lang="en-US" sz="2300" b="1" dirty="0">
                <a:latin typeface="Arial" panose="020B0604020202020204" pitchFamily="34" charset="0"/>
                <a:cs typeface="Arial" panose="020B0604020202020204" pitchFamily="34" charset="0"/>
              </a:rPr>
              <a:t>uick </a:t>
            </a:r>
            <a:r>
              <a:rPr lang="en-US" sz="2300" b="1" dirty="0">
                <a:solidFill>
                  <a:srgbClr val="93338A"/>
                </a:solidFill>
                <a:latin typeface="Arial" panose="020B0604020202020204" pitchFamily="34" charset="0"/>
                <a:cs typeface="Arial" panose="020B0604020202020204" pitchFamily="34" charset="0"/>
              </a:rPr>
              <a:t>plot</a:t>
            </a:r>
            <a:r>
              <a:rPr lang="en-US" sz="2300" b="1" dirty="0">
                <a:latin typeface="Arial" panose="020B0604020202020204" pitchFamily="34" charset="0"/>
                <a:cs typeface="Arial" panose="020B0604020202020204" pitchFamily="34" charset="0"/>
              </a:rPr>
              <a:t> </a:t>
            </a:r>
            <a:r>
              <a:rPr lang="en-US" sz="2300" dirty="0">
                <a:latin typeface="Arial" panose="020B0604020202020204" pitchFamily="34" charset="0"/>
                <a:cs typeface="Arial" panose="020B0604020202020204" pitchFamily="34" charset="0"/>
              </a:rPr>
              <a:t>– not covered in presentation</a:t>
            </a:r>
          </a:p>
          <a:p>
            <a:pPr marL="914400" lvl="2" indent="0">
              <a:lnSpc>
                <a:spcPct val="110000"/>
              </a:lnSpc>
              <a:spcBef>
                <a:spcPts val="600"/>
              </a:spcBef>
              <a:spcAft>
                <a:spcPts val="600"/>
              </a:spcAft>
              <a:buNone/>
            </a:pPr>
            <a:r>
              <a:rPr lang="en-US" sz="2200" dirty="0">
                <a:latin typeface="Arial" panose="020B0604020202020204" pitchFamily="34" charset="0"/>
                <a:cs typeface="Arial" panose="020B0604020202020204" pitchFamily="34" charset="0"/>
              </a:rPr>
              <a:t> uses some concepts of The Grammar of Graphics, but doesn’t provide full capability</a:t>
            </a:r>
          </a:p>
          <a:p>
            <a:pPr marL="914400" lvl="2" indent="0">
              <a:lnSpc>
                <a:spcPct val="110000"/>
              </a:lnSpc>
              <a:spcBef>
                <a:spcPts val="600"/>
              </a:spcBef>
              <a:spcAft>
                <a:spcPts val="600"/>
              </a:spcAft>
              <a:buNone/>
            </a:pPr>
            <a:r>
              <a:rPr lang="en-US" sz="220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and</a:t>
            </a:r>
          </a:p>
          <a:p>
            <a:pPr marL="914400" lvl="2" indent="0">
              <a:lnSpc>
                <a:spcPct val="110000"/>
              </a:lnSpc>
              <a:spcBef>
                <a:spcPts val="600"/>
              </a:spcBef>
              <a:spcAft>
                <a:spcPts val="600"/>
              </a:spcAft>
              <a:buNone/>
            </a:pPr>
            <a:r>
              <a:rPr lang="en-US" sz="2200" dirty="0">
                <a:latin typeface="Arial" panose="020B0604020202020204" pitchFamily="34" charset="0"/>
                <a:cs typeface="Arial" panose="020B0604020202020204" pitchFamily="34" charset="0"/>
              </a:rPr>
              <a:t> designed to be very similar to plot() and simple to use</a:t>
            </a:r>
          </a:p>
          <a:p>
            <a:pPr marL="914400" lvl="2" indent="0">
              <a:lnSpc>
                <a:spcPct val="110000"/>
              </a:lnSpc>
              <a:spcBef>
                <a:spcPts val="600"/>
              </a:spcBef>
              <a:spcAft>
                <a:spcPts val="600"/>
              </a:spcAft>
              <a:buNone/>
            </a:pPr>
            <a:r>
              <a:rPr lang="en-US" sz="2200" dirty="0">
                <a:latin typeface="Arial" panose="020B0604020202020204" pitchFamily="34" charset="0"/>
                <a:cs typeface="Arial" panose="020B0604020202020204" pitchFamily="34" charset="0"/>
              </a:rPr>
              <a:t> may make it easy to produce basic graphs</a:t>
            </a:r>
          </a:p>
          <a:p>
            <a:pPr marL="914400" lvl="2" indent="0">
              <a:lnSpc>
                <a:spcPct val="110000"/>
              </a:lnSpc>
              <a:spcBef>
                <a:spcPts val="600"/>
              </a:spcBef>
              <a:spcAft>
                <a:spcPts val="600"/>
              </a:spcAft>
              <a:buNone/>
            </a:pPr>
            <a:r>
              <a:rPr lang="en-US" sz="220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but</a:t>
            </a:r>
          </a:p>
          <a:p>
            <a:pPr marL="914400" lvl="2" indent="0">
              <a:lnSpc>
                <a:spcPct val="110000"/>
              </a:lnSpc>
              <a:spcBef>
                <a:spcPts val="600"/>
              </a:spcBef>
              <a:spcAft>
                <a:spcPts val="600"/>
              </a:spcAft>
              <a:buNone/>
            </a:pPr>
            <a:r>
              <a:rPr lang="en-US" sz="2200" dirty="0">
                <a:latin typeface="Arial" panose="020B0604020202020204" pitchFamily="34" charset="0"/>
                <a:cs typeface="Arial" panose="020B0604020202020204" pitchFamily="34" charset="0"/>
              </a:rPr>
              <a:t> may delay understanding of ggplot2</a:t>
            </a:r>
          </a:p>
          <a:p>
            <a:pPr marL="457200" lvl="1" indent="0">
              <a:lnSpc>
                <a:spcPct val="110000"/>
              </a:lnSpc>
              <a:spcBef>
                <a:spcPts val="600"/>
              </a:spcBef>
              <a:spcAft>
                <a:spcPts val="600"/>
              </a:spcAft>
              <a:buNone/>
            </a:pPr>
            <a:r>
              <a:rPr lang="en-US" sz="2300" dirty="0">
                <a:latin typeface="Arial" panose="020B0604020202020204" pitchFamily="34" charset="0"/>
                <a:cs typeface="Arial" panose="020B0604020202020204" pitchFamily="34" charset="0"/>
              </a:rPr>
              <a:t> </a:t>
            </a:r>
            <a:r>
              <a:rPr lang="en-US" sz="2300" b="1" dirty="0" err="1">
                <a:latin typeface="Arial" panose="020B0604020202020204" pitchFamily="34" charset="0"/>
                <a:cs typeface="Arial" panose="020B0604020202020204" pitchFamily="34" charset="0"/>
              </a:rPr>
              <a:t>ggplot</a:t>
            </a:r>
            <a:r>
              <a:rPr lang="en-US" sz="2300" b="1" dirty="0">
                <a:latin typeface="Arial" panose="020B0604020202020204" pitchFamily="34" charset="0"/>
                <a:cs typeface="Arial" panose="020B0604020202020204" pitchFamily="34" charset="0"/>
              </a:rPr>
              <a:t>() #</a:t>
            </a:r>
            <a:r>
              <a:rPr lang="en-US" sz="2300" b="1" dirty="0">
                <a:solidFill>
                  <a:srgbClr val="93338A"/>
                </a:solidFill>
                <a:latin typeface="Arial" panose="020B0604020202020204" pitchFamily="34" charset="0"/>
                <a:cs typeface="Arial" panose="020B0604020202020204" pitchFamily="34" charset="0"/>
              </a:rPr>
              <a:t>g</a:t>
            </a:r>
            <a:r>
              <a:rPr lang="en-US" sz="2300" b="1" dirty="0">
                <a:latin typeface="Arial" panose="020B0604020202020204" pitchFamily="34" charset="0"/>
                <a:cs typeface="Arial" panose="020B0604020202020204" pitchFamily="34" charset="0"/>
              </a:rPr>
              <a:t>rammar of </a:t>
            </a:r>
            <a:r>
              <a:rPr lang="en-US" sz="2300" b="1" dirty="0">
                <a:solidFill>
                  <a:srgbClr val="93338A"/>
                </a:solidFill>
                <a:latin typeface="Arial" panose="020B0604020202020204" pitchFamily="34" charset="0"/>
                <a:cs typeface="Arial" panose="020B0604020202020204" pitchFamily="34" charset="0"/>
              </a:rPr>
              <a:t>g</a:t>
            </a:r>
            <a:r>
              <a:rPr lang="en-US" sz="2300" b="1" dirty="0">
                <a:latin typeface="Arial" panose="020B0604020202020204" pitchFamily="34" charset="0"/>
                <a:cs typeface="Arial" panose="020B0604020202020204" pitchFamily="34" charset="0"/>
              </a:rPr>
              <a:t>raphics </a:t>
            </a:r>
            <a:r>
              <a:rPr lang="en-US" sz="2300" b="1" dirty="0">
                <a:solidFill>
                  <a:srgbClr val="93338A"/>
                </a:solidFill>
                <a:latin typeface="Arial" panose="020B0604020202020204" pitchFamily="34" charset="0"/>
                <a:cs typeface="Arial" panose="020B0604020202020204" pitchFamily="34" charset="0"/>
              </a:rPr>
              <a:t>plot</a:t>
            </a:r>
            <a:r>
              <a:rPr lang="en-US" sz="2300" b="1" dirty="0">
                <a:latin typeface="Arial" panose="020B0604020202020204" pitchFamily="34" charset="0"/>
                <a:cs typeface="Arial" panose="020B0604020202020204" pitchFamily="34" charset="0"/>
              </a:rPr>
              <a:t> </a:t>
            </a:r>
            <a:r>
              <a:rPr lang="en-US" sz="2300" dirty="0">
                <a:latin typeface="Arial" panose="020B0604020202020204" pitchFamily="34" charset="0"/>
                <a:cs typeface="Arial" panose="020B0604020202020204" pitchFamily="34" charset="0"/>
              </a:rPr>
              <a:t>– focus of this presentation</a:t>
            </a:r>
          </a:p>
          <a:p>
            <a:pPr marL="914400" lvl="2" indent="0">
              <a:lnSpc>
                <a:spcPct val="110000"/>
              </a:lnSpc>
              <a:spcBef>
                <a:spcPts val="600"/>
              </a:spcBef>
              <a:spcAft>
                <a:spcPts val="600"/>
              </a:spcAft>
              <a:buNone/>
            </a:pPr>
            <a:r>
              <a:rPr lang="en-US" sz="2200" dirty="0">
                <a:latin typeface="Arial" panose="020B0604020202020204" pitchFamily="34" charset="0"/>
                <a:cs typeface="Arial" panose="020B0604020202020204" pitchFamily="34" charset="0"/>
              </a:rPr>
              <a:t> provides fuller implementation of The Grammar of Graphics</a:t>
            </a:r>
          </a:p>
          <a:p>
            <a:pPr marL="914400" lvl="2" indent="0">
              <a:lnSpc>
                <a:spcPct val="110000"/>
              </a:lnSpc>
              <a:spcBef>
                <a:spcPts val="600"/>
              </a:spcBef>
              <a:spcAft>
                <a:spcPts val="600"/>
              </a:spcAft>
              <a:buNone/>
            </a:pPr>
            <a:r>
              <a:rPr lang="en-US" sz="2200" dirty="0">
                <a:latin typeface="Arial" panose="020B0604020202020204" pitchFamily="34" charset="0"/>
                <a:cs typeface="Arial" panose="020B0604020202020204" pitchFamily="34" charset="0"/>
              </a:rPr>
              <a:t> may have steeper learning curve but allows much more flexibility when building graphs</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2715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A2A56-6F8A-4228-9183-CF42CAA12691}"/>
              </a:ext>
            </a:extLst>
          </p:cNvPr>
          <p:cNvSpPr>
            <a:spLocks noGrp="1"/>
          </p:cNvSpPr>
          <p:nvPr>
            <p:ph type="title"/>
          </p:nvPr>
        </p:nvSpPr>
        <p:spPr>
          <a:xfrm>
            <a:off x="838200" y="365126"/>
            <a:ext cx="10515600" cy="987424"/>
          </a:xfrm>
        </p:spPr>
        <p:txBody>
          <a:bodyPr>
            <a:normAutofit fontScale="90000"/>
          </a:bodyPr>
          <a:lstStyle/>
          <a:p>
            <a:pPr algn="ctr"/>
            <a:r>
              <a:rPr lang="en-US" sz="3800" dirty="0">
                <a:latin typeface="Arial" panose="020B0604020202020204" pitchFamily="34" charset="0"/>
                <a:cs typeface="Arial" panose="020B0604020202020204" pitchFamily="34" charset="0"/>
              </a:rPr>
              <a:t>Base R plot</a:t>
            </a:r>
            <a:br>
              <a:rPr lang="en-US" sz="3800" dirty="0">
                <a:latin typeface="Arial" panose="020B0604020202020204" pitchFamily="34" charset="0"/>
                <a:cs typeface="Arial" panose="020B0604020202020204" pitchFamily="34" charset="0"/>
              </a:rPr>
            </a:br>
            <a:endParaRPr lang="en-US" sz="3800" dirty="0">
              <a:latin typeface="Arial" panose="020B0604020202020204" pitchFamily="34" charset="0"/>
              <a:cs typeface="Arial" panose="020B0604020202020204" pitchFamily="34" charset="0"/>
            </a:endParaRPr>
          </a:p>
        </p:txBody>
      </p:sp>
      <p:sp>
        <p:nvSpPr>
          <p:cNvPr id="11" name="Content Placeholder 10">
            <a:extLst>
              <a:ext uri="{FF2B5EF4-FFF2-40B4-BE49-F238E27FC236}">
                <a16:creationId xmlns:a16="http://schemas.microsoft.com/office/drawing/2014/main" id="{4DA5C86C-EB30-4A1D-9579-821EFF413B29}"/>
              </a:ext>
            </a:extLst>
          </p:cNvPr>
          <p:cNvSpPr>
            <a:spLocks noGrp="1"/>
          </p:cNvSpPr>
          <p:nvPr>
            <p:ph idx="1"/>
          </p:nvPr>
        </p:nvSpPr>
        <p:spPr>
          <a:xfrm>
            <a:off x="869577" y="1176339"/>
            <a:ext cx="10515600" cy="5000624"/>
          </a:xfrm>
        </p:spPr>
        <p:txBody>
          <a:bodyPr anchor="t">
            <a:normAutofit/>
          </a:bodyPr>
          <a:lstStyle/>
          <a:p>
            <a:pPr marL="0" lvl="0" indent="0">
              <a:buNone/>
            </a:pPr>
            <a:endParaRPr lang="en-US" sz="1800" dirty="0">
              <a:solidFill>
                <a:srgbClr val="0070C0"/>
              </a:solidFill>
              <a:latin typeface="Lucida Console" panose="020B0609040504020204" pitchFamily="49" charset="0"/>
            </a:endParaRPr>
          </a:p>
          <a:p>
            <a:pPr marL="0" lvl="0" indent="0">
              <a:buNone/>
            </a:pPr>
            <a:r>
              <a:rPr lang="en-US" sz="1800" dirty="0">
                <a:latin typeface="Lucida Console" panose="020B0609040504020204" pitchFamily="49" charset="0"/>
              </a:rPr>
              <a:t>plot(</a:t>
            </a:r>
            <a:r>
              <a:rPr lang="en-US" sz="1800" dirty="0" err="1">
                <a:latin typeface="Lucida Console" panose="020B0609040504020204" pitchFamily="49" charset="0"/>
              </a:rPr>
              <a:t>diamonds$carat</a:t>
            </a:r>
            <a:r>
              <a:rPr lang="en-US" sz="1800" dirty="0">
                <a:latin typeface="Lucida Console" panose="020B0609040504020204" pitchFamily="49" charset="0"/>
              </a:rPr>
              <a:t>, </a:t>
            </a:r>
            <a:r>
              <a:rPr lang="en-US" sz="1800" dirty="0" err="1">
                <a:latin typeface="Lucida Console" panose="020B0609040504020204" pitchFamily="49" charset="0"/>
              </a:rPr>
              <a:t>diamonds$price,col</a:t>
            </a:r>
            <a:r>
              <a:rPr lang="en-US" sz="1800" dirty="0">
                <a:latin typeface="Lucida Console" panose="020B0609040504020204" pitchFamily="49" charset="0"/>
              </a:rPr>
              <a:t>=</a:t>
            </a:r>
            <a:r>
              <a:rPr lang="en-US" sz="1800" dirty="0" err="1">
                <a:latin typeface="Lucida Console" panose="020B0609040504020204" pitchFamily="49" charset="0"/>
              </a:rPr>
              <a:t>diamonds$color,pch</a:t>
            </a:r>
            <a:r>
              <a:rPr lang="en-US" sz="1800" dirty="0">
                <a:latin typeface="Lucida Console" panose="020B0609040504020204" pitchFamily="49" charset="0"/>
              </a:rPr>
              <a:t>=</a:t>
            </a:r>
            <a:r>
              <a:rPr lang="en-US" sz="1800" dirty="0" err="1">
                <a:latin typeface="Lucida Console" panose="020B0609040504020204" pitchFamily="49" charset="0"/>
              </a:rPr>
              <a:t>as.numeric</a:t>
            </a:r>
            <a:r>
              <a:rPr lang="en-US" sz="1800" dirty="0">
                <a:latin typeface="Lucida Console" panose="020B0609040504020204" pitchFamily="49" charset="0"/>
              </a:rPr>
              <a:t>(</a:t>
            </a:r>
            <a:r>
              <a:rPr lang="en-US" sz="1800" dirty="0" err="1">
                <a:latin typeface="Lucida Console" panose="020B0609040504020204" pitchFamily="49" charset="0"/>
              </a:rPr>
              <a:t>diamonds$cut</a:t>
            </a:r>
            <a:r>
              <a:rPr lang="en-US" sz="1800" dirty="0">
                <a:latin typeface="Lucida Console" panose="020B0609040504020204" pitchFamily="49" charset="0"/>
              </a:rPr>
              <a:t>))</a:t>
            </a:r>
          </a:p>
        </p:txBody>
      </p:sp>
      <p:pic>
        <p:nvPicPr>
          <p:cNvPr id="15" name="Content Placeholder 14">
            <a:extLst>
              <a:ext uri="{FF2B5EF4-FFF2-40B4-BE49-F238E27FC236}">
                <a16:creationId xmlns:a16="http://schemas.microsoft.com/office/drawing/2014/main" id="{AE7998C8-19CB-4454-B8BA-D54A9ECF8CF1}"/>
              </a:ext>
            </a:extLst>
          </p:cNvPr>
          <p:cNvPicPr>
            <a:picLocks noGrp="1" noChangeAspect="1"/>
          </p:cNvPicPr>
          <p:nvPr>
            <p:ph sz="half" idx="4294967295"/>
          </p:nvPr>
        </p:nvPicPr>
        <p:blipFill>
          <a:blip r:embed="rId2"/>
          <a:stretch>
            <a:fillRect/>
          </a:stretch>
        </p:blipFill>
        <p:spPr>
          <a:xfrm>
            <a:off x="3121818" y="2243138"/>
            <a:ext cx="5260182" cy="3933825"/>
          </a:xfrm>
          <a:prstGeom prst="rect">
            <a:avLst/>
          </a:prstGeom>
        </p:spPr>
      </p:pic>
    </p:spTree>
    <p:extLst>
      <p:ext uri="{BB962C8B-B14F-4D97-AF65-F5344CB8AC3E}">
        <p14:creationId xmlns:p14="http://schemas.microsoft.com/office/powerpoint/2010/main" val="3292319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A2A56-6F8A-4228-9183-CF42CAA12691}"/>
              </a:ext>
            </a:extLst>
          </p:cNvPr>
          <p:cNvSpPr>
            <a:spLocks noGrp="1"/>
          </p:cNvSpPr>
          <p:nvPr>
            <p:ph type="title"/>
          </p:nvPr>
        </p:nvSpPr>
        <p:spPr>
          <a:xfrm>
            <a:off x="838200" y="365126"/>
            <a:ext cx="10515600" cy="915987"/>
          </a:xfrm>
        </p:spPr>
        <p:txBody>
          <a:bodyPr>
            <a:normAutofit fontScale="90000"/>
          </a:bodyPr>
          <a:lstStyle/>
          <a:p>
            <a:pPr algn="ctr"/>
            <a:r>
              <a:rPr lang="en-US" sz="3800" dirty="0">
                <a:latin typeface="Arial" panose="020B0604020202020204" pitchFamily="34" charset="0"/>
                <a:cs typeface="Arial" panose="020B0604020202020204" pitchFamily="34" charset="0"/>
              </a:rPr>
              <a:t>ggplot2</a:t>
            </a:r>
            <a:br>
              <a:rPr lang="en-US" sz="3800" dirty="0">
                <a:latin typeface="Arial" panose="020B0604020202020204" pitchFamily="34" charset="0"/>
                <a:cs typeface="Arial" panose="020B0604020202020204" pitchFamily="34" charset="0"/>
              </a:rPr>
            </a:br>
            <a:endParaRPr lang="en-US" sz="3800" dirty="0">
              <a:latin typeface="Arial" panose="020B0604020202020204" pitchFamily="34" charset="0"/>
              <a:cs typeface="Arial" panose="020B0604020202020204" pitchFamily="34" charset="0"/>
            </a:endParaRPr>
          </a:p>
        </p:txBody>
      </p:sp>
      <p:sp>
        <p:nvSpPr>
          <p:cNvPr id="11" name="Content Placeholder 10">
            <a:extLst>
              <a:ext uri="{FF2B5EF4-FFF2-40B4-BE49-F238E27FC236}">
                <a16:creationId xmlns:a16="http://schemas.microsoft.com/office/drawing/2014/main" id="{4DA5C86C-EB30-4A1D-9579-821EFF413B29}"/>
              </a:ext>
            </a:extLst>
          </p:cNvPr>
          <p:cNvSpPr>
            <a:spLocks noGrp="1"/>
          </p:cNvSpPr>
          <p:nvPr>
            <p:ph idx="1"/>
          </p:nvPr>
        </p:nvSpPr>
        <p:spPr>
          <a:xfrm>
            <a:off x="838200" y="1204913"/>
            <a:ext cx="10515600" cy="4972049"/>
          </a:xfrm>
        </p:spPr>
        <p:txBody>
          <a:bodyPr anchor="t">
            <a:normAutofit/>
          </a:bodyPr>
          <a:lstStyle/>
          <a:p>
            <a:pPr marL="0" lvl="0" indent="0">
              <a:buNone/>
            </a:pPr>
            <a:endParaRPr lang="en-US" sz="1800" dirty="0">
              <a:solidFill>
                <a:srgbClr val="0070C0"/>
              </a:solidFill>
              <a:latin typeface="Lucida Console" panose="020B0609040504020204" pitchFamily="49" charset="0"/>
            </a:endParaRPr>
          </a:p>
          <a:p>
            <a:pPr marL="0" lvl="0" indent="0">
              <a:buNone/>
            </a:pPr>
            <a:r>
              <a:rPr lang="en-US" sz="1800" dirty="0" err="1">
                <a:latin typeface="Lucida Console" panose="020B0609040504020204" pitchFamily="49" charset="0"/>
              </a:rPr>
              <a:t>ggplot</a:t>
            </a:r>
            <a:r>
              <a:rPr lang="en-US" sz="1800" dirty="0">
                <a:latin typeface="Lucida Console" panose="020B0609040504020204" pitchFamily="49" charset="0"/>
              </a:rPr>
              <a:t>(</a:t>
            </a:r>
            <a:r>
              <a:rPr lang="en-US" sz="1800" dirty="0" err="1">
                <a:latin typeface="Lucida Console" panose="020B0609040504020204" pitchFamily="49" charset="0"/>
              </a:rPr>
              <a:t>diamonds,aes</a:t>
            </a:r>
            <a:r>
              <a:rPr lang="en-US" sz="1800" dirty="0">
                <a:latin typeface="Lucida Console" panose="020B0609040504020204" pitchFamily="49" charset="0"/>
              </a:rPr>
              <a:t>(</a:t>
            </a:r>
            <a:r>
              <a:rPr lang="en-US" sz="1800" dirty="0" err="1">
                <a:latin typeface="Lucida Console" panose="020B0609040504020204" pitchFamily="49" charset="0"/>
              </a:rPr>
              <a:t>carat,price,col</a:t>
            </a:r>
            <a:r>
              <a:rPr lang="en-US" sz="1800" dirty="0">
                <a:latin typeface="Lucida Console" panose="020B0609040504020204" pitchFamily="49" charset="0"/>
              </a:rPr>
              <a:t>=</a:t>
            </a:r>
            <a:r>
              <a:rPr lang="en-US" sz="1800" dirty="0" err="1">
                <a:latin typeface="Lucida Console" panose="020B0609040504020204" pitchFamily="49" charset="0"/>
              </a:rPr>
              <a:t>color,shape</a:t>
            </a:r>
            <a:r>
              <a:rPr lang="en-US" sz="1800" dirty="0">
                <a:latin typeface="Lucida Console" panose="020B0609040504020204" pitchFamily="49" charset="0"/>
              </a:rPr>
              <a:t>=cut)) + </a:t>
            </a:r>
            <a:r>
              <a:rPr lang="en-US" sz="1800" dirty="0">
                <a:solidFill>
                  <a:srgbClr val="1A107E"/>
                </a:solidFill>
                <a:latin typeface="Lucida Console" panose="020B0609040504020204" pitchFamily="49" charset="0"/>
              </a:rPr>
              <a:t>geom_point</a:t>
            </a:r>
            <a:r>
              <a:rPr lang="en-US" sz="1800" dirty="0">
                <a:latin typeface="Lucida Console" panose="020B0609040504020204" pitchFamily="49" charset="0"/>
              </a:rPr>
              <a:t>()</a:t>
            </a:r>
          </a:p>
        </p:txBody>
      </p:sp>
      <p:pic>
        <p:nvPicPr>
          <p:cNvPr id="4" name="Picture 3">
            <a:extLst>
              <a:ext uri="{FF2B5EF4-FFF2-40B4-BE49-F238E27FC236}">
                <a16:creationId xmlns:a16="http://schemas.microsoft.com/office/drawing/2014/main" id="{489DB2D3-6A31-4D7A-BBD9-118AA1FFDEC1}"/>
              </a:ext>
            </a:extLst>
          </p:cNvPr>
          <p:cNvPicPr>
            <a:picLocks noChangeAspect="1"/>
          </p:cNvPicPr>
          <p:nvPr/>
        </p:nvPicPr>
        <p:blipFill>
          <a:blip r:embed="rId2"/>
          <a:stretch>
            <a:fillRect/>
          </a:stretch>
        </p:blipFill>
        <p:spPr>
          <a:xfrm>
            <a:off x="2481619" y="2562225"/>
            <a:ext cx="5886094" cy="3380387"/>
          </a:xfrm>
          <a:prstGeom prst="rect">
            <a:avLst/>
          </a:prstGeom>
        </p:spPr>
      </p:pic>
    </p:spTree>
    <p:extLst>
      <p:ext uri="{BB962C8B-B14F-4D97-AF65-F5344CB8AC3E}">
        <p14:creationId xmlns:p14="http://schemas.microsoft.com/office/powerpoint/2010/main" val="4021711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526CD-411E-40AD-B3FF-FD6D20B61517}"/>
              </a:ext>
            </a:extLst>
          </p:cNvPr>
          <p:cNvSpPr>
            <a:spLocks noGrp="1"/>
          </p:cNvSpPr>
          <p:nvPr>
            <p:ph type="title"/>
          </p:nvPr>
        </p:nvSpPr>
        <p:spPr>
          <a:xfrm>
            <a:off x="838200" y="342900"/>
            <a:ext cx="10515600" cy="904875"/>
          </a:xfrm>
        </p:spPr>
        <p:txBody>
          <a:bodyPr anchor="b">
            <a:normAutofit fontScale="90000"/>
          </a:bodyPr>
          <a:lstStyle/>
          <a:p>
            <a:pPr algn="ctr"/>
            <a:r>
              <a:rPr lang="en-US" sz="3800" dirty="0">
                <a:latin typeface="Arial" panose="020B0604020202020204" pitchFamily="34" charset="0"/>
                <a:cs typeface="Arial" panose="020B0604020202020204" pitchFamily="34" charset="0"/>
              </a:rPr>
              <a:t>Grammar Defines Components of Graphics</a:t>
            </a:r>
            <a:br>
              <a:rPr lang="en-US" dirty="0"/>
            </a:br>
            <a:endParaRPr lang="en-US" dirty="0"/>
          </a:p>
        </p:txBody>
      </p:sp>
      <p:sp>
        <p:nvSpPr>
          <p:cNvPr id="3" name="Content Placeholder 2">
            <a:extLst>
              <a:ext uri="{FF2B5EF4-FFF2-40B4-BE49-F238E27FC236}">
                <a16:creationId xmlns:a16="http://schemas.microsoft.com/office/drawing/2014/main" id="{D28C6E07-80BC-497B-8624-C53975857A1C}"/>
              </a:ext>
            </a:extLst>
          </p:cNvPr>
          <p:cNvSpPr>
            <a:spLocks noGrp="1"/>
          </p:cNvSpPr>
          <p:nvPr>
            <p:ph idx="1"/>
          </p:nvPr>
        </p:nvSpPr>
        <p:spPr>
          <a:xfrm>
            <a:off x="838200" y="1176337"/>
            <a:ext cx="10891838" cy="5338763"/>
          </a:xfrm>
          <a:gradFill>
            <a:gsLst>
              <a:gs pos="100000">
                <a:schemeClr val="bg1"/>
              </a:gs>
              <a:gs pos="100000">
                <a:schemeClr val="accent1">
                  <a:hueOff val="0"/>
                  <a:satOff val="0"/>
                  <a:lumOff val="0"/>
                  <a:alphaOff val="0"/>
                  <a:lumMod val="105000"/>
                  <a:satMod val="109000"/>
                  <a:tint val="81000"/>
                </a:schemeClr>
              </a:gs>
            </a:gsLst>
            <a:lin ang="5400000" scaled="0"/>
          </a:gradFill>
        </p:spPr>
        <p:txBody>
          <a:bodyPr>
            <a:normAutofit/>
          </a:bodyPr>
          <a:lstStyle/>
          <a:p>
            <a:pPr marL="0" indent="0">
              <a:spcAft>
                <a:spcPts val="600"/>
              </a:spcAft>
              <a:buNone/>
            </a:pPr>
            <a:r>
              <a:rPr lang="en-US" sz="2000" b="1" dirty="0">
                <a:latin typeface="Arial" panose="020B0604020202020204" pitchFamily="34" charset="0"/>
                <a:cs typeface="Arial" panose="020B0604020202020204" pitchFamily="34" charset="0"/>
              </a:rPr>
              <a:t>data: </a:t>
            </a:r>
            <a:r>
              <a:rPr lang="en-US" sz="2000" dirty="0">
                <a:latin typeface="Arial" panose="020B0604020202020204" pitchFamily="34" charset="0"/>
                <a:cs typeface="Arial" panose="020B0604020202020204" pitchFamily="34" charset="0"/>
              </a:rPr>
              <a:t>in ggplot2, data must be stored as an R data frame</a:t>
            </a:r>
          </a:p>
          <a:p>
            <a:pPr marL="0" indent="0">
              <a:spcAft>
                <a:spcPts val="600"/>
              </a:spcAft>
              <a:buNone/>
            </a:pPr>
            <a:r>
              <a:rPr lang="en-US" sz="2000" b="1" dirty="0" err="1">
                <a:latin typeface="Arial" panose="020B0604020202020204" pitchFamily="34" charset="0"/>
                <a:cs typeface="Arial" panose="020B0604020202020204" pitchFamily="34" charset="0"/>
              </a:rPr>
              <a:t>geoms</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describe type of geometric objects that represent data</a:t>
            </a:r>
          </a:p>
          <a:p>
            <a:pPr marL="457200" lvl="1" indent="0">
              <a:spcAft>
                <a:spcPts val="600"/>
              </a:spcAft>
              <a:buNone/>
            </a:pPr>
            <a:r>
              <a:rPr lang="en-US" sz="1600" dirty="0">
                <a:latin typeface="Arial" panose="020B0604020202020204" pitchFamily="34" charset="0"/>
                <a:cs typeface="Arial" panose="020B0604020202020204" pitchFamily="34" charset="0"/>
              </a:rPr>
              <a:t> - i.e., points (point shape), text (text labels), lines (line weight/type), polygons, ...</a:t>
            </a:r>
          </a:p>
          <a:p>
            <a:pPr marL="0" indent="0">
              <a:spcAft>
                <a:spcPts val="600"/>
              </a:spcAft>
              <a:buNone/>
            </a:pPr>
            <a:r>
              <a:rPr lang="en-US" sz="2000" b="1" dirty="0">
                <a:latin typeface="Arial" panose="020B0604020202020204" pitchFamily="34" charset="0"/>
                <a:cs typeface="Arial" panose="020B0604020202020204" pitchFamily="34" charset="0"/>
              </a:rPr>
              <a:t>aesthetics: </a:t>
            </a:r>
            <a:r>
              <a:rPr lang="en-US" sz="2000" dirty="0">
                <a:latin typeface="Arial" panose="020B0604020202020204" pitchFamily="34" charset="0"/>
                <a:cs typeface="Arial" panose="020B0604020202020204" pitchFamily="34" charset="0"/>
              </a:rPr>
              <a:t>describe visual characteristics that represent data</a:t>
            </a:r>
          </a:p>
          <a:p>
            <a:pPr marL="457200" lvl="1" indent="0">
              <a:spcAft>
                <a:spcPts val="600"/>
              </a:spcAft>
              <a:buNone/>
            </a:pPr>
            <a:r>
              <a:rPr lang="en-US" sz="1600" dirty="0">
                <a:latin typeface="Arial" panose="020B0604020202020204" pitchFamily="34" charset="0"/>
                <a:cs typeface="Arial" panose="020B0604020202020204" pitchFamily="34" charset="0"/>
              </a:rPr>
              <a:t> - i.e., position, size, color, shape, transparency, fill</a:t>
            </a:r>
          </a:p>
          <a:p>
            <a:pPr marL="0" indent="0">
              <a:spcAft>
                <a:spcPts val="600"/>
              </a:spcAft>
              <a:buNone/>
            </a:pPr>
            <a:r>
              <a:rPr lang="en-US" sz="2000" b="1" dirty="0">
                <a:latin typeface="Arial" panose="020B0604020202020204" pitchFamily="34" charset="0"/>
                <a:cs typeface="Arial" panose="020B0604020202020204" pitchFamily="34" charset="0"/>
              </a:rPr>
              <a:t>stats : </a:t>
            </a:r>
            <a:r>
              <a:rPr lang="en-US" sz="2000" dirty="0">
                <a:latin typeface="Arial" panose="020B0604020202020204" pitchFamily="34" charset="0"/>
                <a:cs typeface="Arial" panose="020B0604020202020204" pitchFamily="34" charset="0"/>
              </a:rPr>
              <a:t>describe statistical transformations that typically summarize data</a:t>
            </a:r>
          </a:p>
          <a:p>
            <a:pPr marL="457200" lvl="1" indent="0">
              <a:spcAft>
                <a:spcPts val="600"/>
              </a:spcAft>
              <a:buNone/>
            </a:pPr>
            <a:r>
              <a:rPr lang="en-US" sz="1600" dirty="0">
                <a:latin typeface="Arial" panose="020B0604020202020204" pitchFamily="34" charset="0"/>
                <a:cs typeface="Arial" panose="020B0604020202020204" pitchFamily="34" charset="0"/>
              </a:rPr>
              <a:t> - i.e., counts, means and medians with confidence intervals, smoothing and regression lines, ...</a:t>
            </a:r>
          </a:p>
          <a:p>
            <a:pPr marL="0" indent="0">
              <a:spcAft>
                <a:spcPts val="600"/>
              </a:spcAft>
              <a:buNone/>
            </a:pPr>
            <a:r>
              <a:rPr lang="en-US" sz="2000" b="1" dirty="0">
                <a:latin typeface="Arial" panose="020B0604020202020204" pitchFamily="34" charset="0"/>
                <a:cs typeface="Arial" panose="020B0604020202020204" pitchFamily="34" charset="0"/>
              </a:rPr>
              <a:t>facets: </a:t>
            </a:r>
            <a:r>
              <a:rPr lang="en-US" sz="2000" dirty="0">
                <a:latin typeface="Arial" panose="020B0604020202020204" pitchFamily="34" charset="0"/>
                <a:cs typeface="Arial" panose="020B0604020202020204" pitchFamily="34" charset="0"/>
              </a:rPr>
              <a:t>describe how data is split into subsets and displayed as multiple small graphs</a:t>
            </a:r>
          </a:p>
          <a:p>
            <a:pPr marL="0" indent="0">
              <a:spcAft>
                <a:spcPts val="600"/>
              </a:spcAft>
              <a:buNone/>
            </a:pPr>
            <a:r>
              <a:rPr lang="en-US" sz="2000" b="1" dirty="0">
                <a:latin typeface="Arial" panose="020B0604020202020204" pitchFamily="34" charset="0"/>
                <a:cs typeface="Arial" panose="020B0604020202020204" pitchFamily="34" charset="0"/>
              </a:rPr>
              <a:t>coordinate system: </a:t>
            </a:r>
            <a:r>
              <a:rPr lang="en-US" sz="2000" dirty="0">
                <a:latin typeface="Arial" panose="020B0604020202020204" pitchFamily="34" charset="0"/>
                <a:cs typeface="Arial" panose="020B0604020202020204" pitchFamily="34" charset="0"/>
              </a:rPr>
              <a:t>describes 2-D space that data is projected onto</a:t>
            </a:r>
          </a:p>
          <a:p>
            <a:pPr marL="457200" lvl="1" indent="0">
              <a:spcAft>
                <a:spcPts val="600"/>
              </a:spcAft>
              <a:buNone/>
            </a:pPr>
            <a:r>
              <a:rPr lang="en-US" sz="1600" dirty="0">
                <a:latin typeface="Arial" panose="020B0604020202020204" pitchFamily="34" charset="0"/>
                <a:cs typeface="Arial" panose="020B0604020202020204" pitchFamily="34" charset="0"/>
              </a:rPr>
              <a:t> - i.e., Cartesian coordinates, polar coordinates, map projections, ...</a:t>
            </a:r>
          </a:p>
          <a:p>
            <a:pPr marL="0" indent="0">
              <a:spcAft>
                <a:spcPts val="600"/>
              </a:spcAft>
              <a:buNone/>
            </a:pPr>
            <a:r>
              <a:rPr lang="en-US" sz="2000" b="1" dirty="0">
                <a:latin typeface="Arial" panose="020B0604020202020204" pitchFamily="34" charset="0"/>
                <a:cs typeface="Arial" panose="020B0604020202020204" pitchFamily="34" charset="0"/>
              </a:rPr>
              <a:t>scales: </a:t>
            </a:r>
            <a:r>
              <a:rPr lang="en-US" sz="2000" dirty="0">
                <a:latin typeface="Arial" panose="020B0604020202020204" pitchFamily="34" charset="0"/>
                <a:cs typeface="Arial" panose="020B0604020202020204" pitchFamily="34" charset="0"/>
              </a:rPr>
              <a:t>for each aesthetic, describe how visual characteristic is converted to display values</a:t>
            </a:r>
          </a:p>
          <a:p>
            <a:pPr marL="457200" lvl="1" indent="0">
              <a:spcAft>
                <a:spcPts val="600"/>
              </a:spcAft>
              <a:buNone/>
            </a:pPr>
            <a:r>
              <a:rPr lang="en-US" sz="1600" dirty="0">
                <a:latin typeface="Arial" panose="020B0604020202020204" pitchFamily="34" charset="0"/>
                <a:cs typeface="Arial" panose="020B0604020202020204" pitchFamily="34" charset="0"/>
              </a:rPr>
              <a:t> - i.e., log scales, color scales, size scales, shape scales, ...</a:t>
            </a:r>
          </a:p>
          <a:p>
            <a:pPr marL="457200" lvl="1" indent="0">
              <a:spcAft>
                <a:spcPts val="600"/>
              </a:spcAft>
              <a:buNone/>
            </a:pPr>
            <a:endParaRPr lang="en-US" sz="1600" dirty="0">
              <a:latin typeface="Arial" panose="020B0604020202020204" pitchFamily="34" charset="0"/>
              <a:cs typeface="Arial" panose="020B0604020202020204" pitchFamily="34" charset="0"/>
            </a:endParaRPr>
          </a:p>
          <a:p>
            <a:pPr marL="0" indent="0">
              <a:spcAft>
                <a:spcPts val="600"/>
              </a:spcAft>
              <a:buNone/>
            </a:pPr>
            <a:endParaRPr lang="en-US" sz="2000" dirty="0"/>
          </a:p>
        </p:txBody>
      </p:sp>
    </p:spTree>
    <p:extLst>
      <p:ext uri="{BB962C8B-B14F-4D97-AF65-F5344CB8AC3E}">
        <p14:creationId xmlns:p14="http://schemas.microsoft.com/office/powerpoint/2010/main" val="3223773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61CF9-92FE-4D6C-AD99-CAC9FB42817F}"/>
              </a:ext>
            </a:extLst>
          </p:cNvPr>
          <p:cNvSpPr>
            <a:spLocks noGrp="1"/>
          </p:cNvSpPr>
          <p:nvPr>
            <p:ph type="title"/>
          </p:nvPr>
        </p:nvSpPr>
        <p:spPr/>
        <p:txBody>
          <a:bodyPr>
            <a:normAutofit/>
          </a:bodyPr>
          <a:lstStyle/>
          <a:p>
            <a:pPr algn="ctr"/>
            <a:r>
              <a:rPr lang="en-US" sz="3800" dirty="0">
                <a:latin typeface="Arial" panose="020B0604020202020204" pitchFamily="34" charset="0"/>
                <a:cs typeface="Arial" panose="020B0604020202020204" pitchFamily="34" charset="0"/>
              </a:rPr>
              <a:t>Installation </a:t>
            </a:r>
          </a:p>
        </p:txBody>
      </p:sp>
      <p:sp>
        <p:nvSpPr>
          <p:cNvPr id="3" name="Content Placeholder 2">
            <a:extLst>
              <a:ext uri="{FF2B5EF4-FFF2-40B4-BE49-F238E27FC236}">
                <a16:creationId xmlns:a16="http://schemas.microsoft.com/office/drawing/2014/main" id="{53C991EF-CD48-42B7-9FEC-7017BC9C6E46}"/>
              </a:ext>
            </a:extLst>
          </p:cNvPr>
          <p:cNvSpPr>
            <a:spLocks noGrp="1"/>
          </p:cNvSpPr>
          <p:nvPr>
            <p:ph idx="1"/>
          </p:nvPr>
        </p:nvSpPr>
        <p:spPr>
          <a:xfrm>
            <a:off x="838200" y="1835150"/>
            <a:ext cx="10515600" cy="4351338"/>
          </a:xfrm>
        </p:spPr>
        <p:txBody>
          <a:bodyPr anchor="t"/>
          <a:lstStyle/>
          <a:p>
            <a:pPr marL="457200" lvl="1" indent="0">
              <a:spcAft>
                <a:spcPts val="600"/>
              </a:spcAft>
              <a:buNone/>
            </a:pPr>
            <a:endParaRPr lang="en-US" dirty="0">
              <a:latin typeface="Arial" panose="020B0604020202020204" pitchFamily="34" charset="0"/>
              <a:cs typeface="Arial" panose="020B0604020202020204" pitchFamily="34" charset="0"/>
            </a:endParaRPr>
          </a:p>
          <a:p>
            <a:pPr marL="457200" lvl="1" indent="0">
              <a:spcAft>
                <a:spcPts val="600"/>
              </a:spcAft>
              <a:buNone/>
            </a:pPr>
            <a:r>
              <a:rPr lang="en-US" sz="2200" dirty="0">
                <a:latin typeface="Arial" panose="020B0604020202020204" pitchFamily="34" charset="0"/>
                <a:cs typeface="Arial" panose="020B0604020202020204" pitchFamily="34" charset="0"/>
              </a:rPr>
              <a:t>Install some packages (make sure you also have recent versions of </a:t>
            </a:r>
            <a:r>
              <a:rPr lang="en-US" sz="2200" dirty="0" err="1">
                <a:latin typeface="Arial" panose="020B0604020202020204" pitchFamily="34" charset="0"/>
                <a:cs typeface="Arial" panose="020B0604020202020204" pitchFamily="34" charset="0"/>
              </a:rPr>
              <a:t>dplyr</a:t>
            </a:r>
            <a:r>
              <a:rPr lang="en-US" sz="2200" dirty="0">
                <a:latin typeface="Arial" panose="020B0604020202020204" pitchFamily="34" charset="0"/>
                <a:cs typeface="Arial" panose="020B0604020202020204" pitchFamily="34" charset="0"/>
              </a:rPr>
              <a:t> and reshape2)</a:t>
            </a:r>
          </a:p>
          <a:p>
            <a:pPr marL="457200" lvl="1" indent="0">
              <a:spcAft>
                <a:spcPts val="600"/>
              </a:spcAft>
              <a:buNone/>
            </a:pPr>
            <a:endParaRPr lang="en-US" dirty="0">
              <a:latin typeface="Arial" panose="020B0604020202020204" pitchFamily="34" charset="0"/>
              <a:cs typeface="Arial" panose="020B0604020202020204" pitchFamily="34" charset="0"/>
            </a:endParaRPr>
          </a:p>
          <a:p>
            <a:pPr marL="457200" lvl="1" indent="0">
              <a:spcAft>
                <a:spcPts val="600"/>
              </a:spcAft>
              <a:buNone/>
            </a:pPr>
            <a:r>
              <a:rPr lang="en-US" sz="1800" dirty="0" err="1">
                <a:solidFill>
                  <a:srgbClr val="0631BA"/>
                </a:solidFill>
                <a:latin typeface="Lucida Console" panose="020B0609040504020204" pitchFamily="49" charset="0"/>
              </a:rPr>
              <a:t>install.packages</a:t>
            </a:r>
            <a:r>
              <a:rPr lang="en-US" sz="1800" dirty="0">
                <a:latin typeface="Lucida Console" panose="020B0609040504020204" pitchFamily="49" charset="0"/>
              </a:rPr>
              <a:t>(</a:t>
            </a:r>
            <a:r>
              <a:rPr lang="en-US" sz="1800" dirty="0">
                <a:solidFill>
                  <a:srgbClr val="93338A"/>
                </a:solidFill>
                <a:latin typeface="Lucida Console" panose="020B0609040504020204" pitchFamily="49" charset="0"/>
              </a:rPr>
              <a:t>“ggplot2”</a:t>
            </a:r>
            <a:r>
              <a:rPr lang="en-US" sz="1800" dirty="0">
                <a:latin typeface="Lucida Console" panose="020B0609040504020204" pitchFamily="49" charset="0"/>
              </a:rPr>
              <a:t>,dependencies=TRUE)</a:t>
            </a:r>
          </a:p>
          <a:p>
            <a:pPr marL="457200" lvl="1" indent="0">
              <a:spcAft>
                <a:spcPts val="600"/>
              </a:spcAft>
              <a:buNone/>
            </a:pPr>
            <a:r>
              <a:rPr lang="en-US" sz="1800" dirty="0">
                <a:solidFill>
                  <a:srgbClr val="0631BA"/>
                </a:solidFill>
                <a:latin typeface="Lucida Console" panose="020B0609040504020204" pitchFamily="49" charset="0"/>
              </a:rPr>
              <a:t>library</a:t>
            </a:r>
            <a:r>
              <a:rPr lang="en-US" sz="1800" dirty="0">
                <a:latin typeface="Lucida Console" panose="020B0609040504020204" pitchFamily="49" charset="0"/>
              </a:rPr>
              <a:t>(</a:t>
            </a:r>
            <a:r>
              <a:rPr lang="en-US" sz="1800" dirty="0">
                <a:solidFill>
                  <a:srgbClr val="93338A"/>
                </a:solidFill>
                <a:latin typeface="Lucida Console" panose="020B0609040504020204" pitchFamily="49" charset="0"/>
              </a:rPr>
              <a:t>ggplot2</a:t>
            </a:r>
            <a:r>
              <a:rPr lang="en-US" sz="1800" dirty="0">
                <a:latin typeface="Lucida Console" panose="020B0609040504020204" pitchFamily="49" charset="0"/>
              </a:rPr>
              <a:t>)</a:t>
            </a:r>
          </a:p>
          <a:p>
            <a:pPr marL="457200" lvl="1" indent="0">
              <a:spcAft>
                <a:spcPts val="600"/>
              </a:spcAft>
              <a:buNone/>
            </a:pPr>
            <a:endParaRPr lang="en-US" sz="1800" dirty="0">
              <a:latin typeface="Lucida Console" panose="020B0609040504020204" pitchFamily="49" charset="0"/>
            </a:endParaRPr>
          </a:p>
        </p:txBody>
      </p:sp>
    </p:spTree>
    <p:extLst>
      <p:ext uri="{BB962C8B-B14F-4D97-AF65-F5344CB8AC3E}">
        <p14:creationId xmlns:p14="http://schemas.microsoft.com/office/powerpoint/2010/main" val="2029097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B7ED6-B20F-4C51-977D-7DD5E64981A2}"/>
              </a:ext>
            </a:extLst>
          </p:cNvPr>
          <p:cNvSpPr>
            <a:spLocks noGrp="1"/>
          </p:cNvSpPr>
          <p:nvPr>
            <p:ph type="title"/>
          </p:nvPr>
        </p:nvSpPr>
        <p:spPr/>
        <p:txBody>
          <a:bodyPr>
            <a:normAutofit/>
          </a:bodyPr>
          <a:lstStyle/>
          <a:p>
            <a:pPr algn="ctr"/>
            <a:r>
              <a:rPr lang="en-US" sz="3800" dirty="0">
                <a:latin typeface="Arial" panose="020B0604020202020204" pitchFamily="34" charset="0"/>
                <a:cs typeface="Arial" panose="020B0604020202020204" pitchFamily="34" charset="0"/>
              </a:rPr>
              <a:t>ggplot2: Basic Idea</a:t>
            </a:r>
          </a:p>
        </p:txBody>
      </p:sp>
      <p:sp>
        <p:nvSpPr>
          <p:cNvPr id="3" name="Content Placeholder 2">
            <a:extLst>
              <a:ext uri="{FF2B5EF4-FFF2-40B4-BE49-F238E27FC236}">
                <a16:creationId xmlns:a16="http://schemas.microsoft.com/office/drawing/2014/main" id="{00C2CA70-2D5F-4F7B-9D87-5B4E26940801}"/>
              </a:ext>
            </a:extLst>
          </p:cNvPr>
          <p:cNvSpPr>
            <a:spLocks noGrp="1"/>
          </p:cNvSpPr>
          <p:nvPr>
            <p:ph idx="1"/>
          </p:nvPr>
        </p:nvSpPr>
        <p:spPr>
          <a:xfrm>
            <a:off x="838200" y="1562100"/>
            <a:ext cx="10515600" cy="4824413"/>
          </a:xfrm>
        </p:spPr>
        <p:txBody>
          <a:bodyPr>
            <a:normAutofit/>
          </a:bodyPr>
          <a:lstStyle/>
          <a:p>
            <a:pPr marL="0" indent="0">
              <a:spcBef>
                <a:spcPts val="600"/>
              </a:spcBef>
              <a:spcAft>
                <a:spcPts val="600"/>
              </a:spcAft>
              <a:buNone/>
            </a:pPr>
            <a:r>
              <a:rPr lang="en-US" sz="2200" dirty="0">
                <a:latin typeface="Arial" panose="020B0604020202020204" pitchFamily="34" charset="0"/>
                <a:cs typeface="Arial" panose="020B0604020202020204" pitchFamily="34" charset="0"/>
              </a:rPr>
              <a:t>In order to create a plot, you:</a:t>
            </a:r>
          </a:p>
          <a:p>
            <a:pPr>
              <a:spcBef>
                <a:spcPts val="600"/>
              </a:spcBef>
              <a:spcAft>
                <a:spcPts val="600"/>
              </a:spcAft>
              <a:buFont typeface="Wingdings" panose="05000000000000000000" pitchFamily="2" charset="2"/>
              <a:buChar char="§"/>
            </a:pPr>
            <a:r>
              <a:rPr lang="en-US" sz="2200" dirty="0">
                <a:latin typeface="Arial" panose="020B0604020202020204" pitchFamily="34" charset="0"/>
                <a:cs typeface="Arial" panose="020B0604020202020204" pitchFamily="34" charset="0"/>
              </a:rPr>
              <a:t>Call the </a:t>
            </a:r>
            <a:r>
              <a:rPr lang="en-US" sz="2200" dirty="0" err="1">
                <a:latin typeface="Arial" panose="020B0604020202020204" pitchFamily="34" charset="0"/>
                <a:cs typeface="Arial" panose="020B0604020202020204" pitchFamily="34" charset="0"/>
              </a:rPr>
              <a:t>ggplot</a:t>
            </a:r>
            <a:r>
              <a:rPr lang="en-US" sz="2200" dirty="0">
                <a:latin typeface="Arial" panose="020B0604020202020204" pitchFamily="34" charset="0"/>
                <a:cs typeface="Arial" panose="020B0604020202020204" pitchFamily="34" charset="0"/>
              </a:rPr>
              <a:t>() function which creates a blank canvas</a:t>
            </a:r>
          </a:p>
          <a:p>
            <a:pPr marL="457200" lvl="1" indent="0">
              <a:spcBef>
                <a:spcPts val="600"/>
              </a:spcBef>
              <a:spcAft>
                <a:spcPts val="600"/>
              </a:spcAft>
              <a:buNone/>
            </a:pPr>
            <a:r>
              <a:rPr lang="en-US" sz="1800" dirty="0" err="1">
                <a:solidFill>
                  <a:srgbClr val="1A107E"/>
                </a:solidFill>
                <a:latin typeface="Lucida Console" panose="020B0609040504020204" pitchFamily="49" charset="0"/>
                <a:cs typeface="Arial" panose="020B0604020202020204" pitchFamily="34" charset="0"/>
              </a:rPr>
              <a:t>ggplot</a:t>
            </a:r>
            <a:r>
              <a:rPr lang="en-US" sz="1800" dirty="0">
                <a:latin typeface="Lucida Console" panose="020B0609040504020204" pitchFamily="49" charset="0"/>
                <a:cs typeface="Arial" panose="020B0604020202020204" pitchFamily="34" charset="0"/>
              </a:rPr>
              <a:t>(mpg)</a:t>
            </a:r>
          </a:p>
          <a:p>
            <a:pPr>
              <a:spcBef>
                <a:spcPts val="600"/>
              </a:spcBef>
              <a:spcAft>
                <a:spcPts val="600"/>
              </a:spcAft>
              <a:buFont typeface="Wingdings" panose="05000000000000000000" pitchFamily="2" charset="2"/>
              <a:buChar char="§"/>
            </a:pPr>
            <a:r>
              <a:rPr lang="en-US" sz="2200" dirty="0">
                <a:latin typeface="Arial" panose="020B0604020202020204" pitchFamily="34" charset="0"/>
                <a:cs typeface="Arial" panose="020B0604020202020204" pitchFamily="34" charset="0"/>
              </a:rPr>
              <a:t>Specify aesthetic mappings, which specifies how you want to map variables to visual aspects.</a:t>
            </a:r>
          </a:p>
          <a:p>
            <a:pPr lvl="1">
              <a:spcBef>
                <a:spcPts val="600"/>
              </a:spcBef>
              <a:spcAft>
                <a:spcPts val="600"/>
              </a:spcAft>
              <a:buFont typeface="Wingdings" panose="05000000000000000000" pitchFamily="2" charset="2"/>
              <a:buChar char="§"/>
            </a:pPr>
            <a:r>
              <a:rPr lang="en-US" sz="1800" dirty="0">
                <a:latin typeface="Arial" panose="020B0604020202020204" pitchFamily="34" charset="0"/>
                <a:cs typeface="Arial" panose="020B0604020202020204" pitchFamily="34" charset="0"/>
              </a:rPr>
              <a:t> In this case we are simply mapping the </a:t>
            </a:r>
            <a:r>
              <a:rPr lang="en-US" sz="1800" dirty="0" err="1">
                <a:latin typeface="Arial" panose="020B0604020202020204" pitchFamily="34" charset="0"/>
                <a:cs typeface="Arial" panose="020B0604020202020204" pitchFamily="34" charset="0"/>
              </a:rPr>
              <a:t>displ</a:t>
            </a:r>
            <a:r>
              <a:rPr lang="en-US" sz="1800" dirty="0">
                <a:latin typeface="Arial" panose="020B0604020202020204" pitchFamily="34" charset="0"/>
                <a:cs typeface="Arial" panose="020B0604020202020204" pitchFamily="34" charset="0"/>
              </a:rPr>
              <a:t> and </a:t>
            </a:r>
            <a:r>
              <a:rPr lang="en-US" sz="1800" dirty="0" err="1">
                <a:latin typeface="Arial" panose="020B0604020202020204" pitchFamily="34" charset="0"/>
                <a:cs typeface="Arial" panose="020B0604020202020204" pitchFamily="34" charset="0"/>
              </a:rPr>
              <a:t>hwy</a:t>
            </a:r>
            <a:r>
              <a:rPr lang="en-US" sz="1800" dirty="0">
                <a:latin typeface="Arial" panose="020B0604020202020204" pitchFamily="34" charset="0"/>
                <a:cs typeface="Arial" panose="020B0604020202020204" pitchFamily="34" charset="0"/>
              </a:rPr>
              <a:t> variables to the x- and y-axes.</a:t>
            </a:r>
          </a:p>
          <a:p>
            <a:pPr marL="457200" lvl="1" indent="0">
              <a:spcBef>
                <a:spcPts val="600"/>
              </a:spcBef>
              <a:spcAft>
                <a:spcPts val="600"/>
              </a:spcAft>
              <a:buNone/>
            </a:pPr>
            <a:r>
              <a:rPr lang="en-US" sz="1800" dirty="0" err="1">
                <a:solidFill>
                  <a:srgbClr val="1A107E"/>
                </a:solidFill>
                <a:latin typeface="Lucida Console" panose="020B0609040504020204" pitchFamily="49" charset="0"/>
                <a:cs typeface="Arial" panose="020B0604020202020204" pitchFamily="34" charset="0"/>
              </a:rPr>
              <a:t>ggplot</a:t>
            </a:r>
            <a:r>
              <a:rPr lang="en-US" sz="1800" dirty="0">
                <a:latin typeface="Lucida Console" panose="020B0609040504020204" pitchFamily="49" charset="0"/>
                <a:cs typeface="Arial" panose="020B0604020202020204" pitchFamily="34" charset="0"/>
              </a:rPr>
              <a:t>(</a:t>
            </a:r>
            <a:r>
              <a:rPr lang="en-US" sz="1800" dirty="0" err="1">
                <a:latin typeface="Lucida Console" panose="020B0609040504020204" pitchFamily="49" charset="0"/>
                <a:cs typeface="Arial" panose="020B0604020202020204" pitchFamily="34" charset="0"/>
              </a:rPr>
              <a:t>mpg,aes</a:t>
            </a:r>
            <a:r>
              <a:rPr lang="en-US" sz="1800" dirty="0">
                <a:latin typeface="Lucida Console" panose="020B0609040504020204" pitchFamily="49" charset="0"/>
                <a:cs typeface="Arial" panose="020B0604020202020204" pitchFamily="34" charset="0"/>
              </a:rPr>
              <a:t>(x=</a:t>
            </a:r>
            <a:r>
              <a:rPr lang="en-US" sz="1800" dirty="0" err="1">
                <a:latin typeface="Lucida Console" panose="020B0609040504020204" pitchFamily="49" charset="0"/>
                <a:cs typeface="Arial" panose="020B0604020202020204" pitchFamily="34" charset="0"/>
              </a:rPr>
              <a:t>displ,y</a:t>
            </a:r>
            <a:r>
              <a:rPr lang="en-US" sz="1800" dirty="0">
                <a:latin typeface="Lucida Console" panose="020B0609040504020204" pitchFamily="49" charset="0"/>
                <a:cs typeface="Arial" panose="020B0604020202020204" pitchFamily="34" charset="0"/>
              </a:rPr>
              <a:t>=</a:t>
            </a:r>
            <a:r>
              <a:rPr lang="en-US" sz="1800" dirty="0" err="1">
                <a:latin typeface="Lucida Console" panose="020B0609040504020204" pitchFamily="49" charset="0"/>
                <a:cs typeface="Arial" panose="020B0604020202020204" pitchFamily="34" charset="0"/>
              </a:rPr>
              <a:t>hwy</a:t>
            </a:r>
            <a:r>
              <a:rPr lang="en-US" sz="1800" dirty="0">
                <a:latin typeface="Lucida Console" panose="020B0609040504020204" pitchFamily="49" charset="0"/>
                <a:cs typeface="Arial" panose="020B0604020202020204" pitchFamily="34" charset="0"/>
              </a:rPr>
              <a:t>))</a:t>
            </a:r>
          </a:p>
          <a:p>
            <a:pPr>
              <a:spcBef>
                <a:spcPts val="600"/>
              </a:spcBef>
              <a:spcAft>
                <a:spcPts val="600"/>
              </a:spcAft>
              <a:buFont typeface="Wingdings" panose="05000000000000000000" pitchFamily="2" charset="2"/>
              <a:buChar char="§"/>
            </a:pPr>
            <a:r>
              <a:rPr lang="en-US" sz="2200" dirty="0">
                <a:latin typeface="Arial" panose="020B0604020202020204" pitchFamily="34" charset="0"/>
                <a:cs typeface="Arial" panose="020B0604020202020204" pitchFamily="34" charset="0"/>
              </a:rPr>
              <a:t>Then add new layers that are geometric objects which will show up on the plot.</a:t>
            </a:r>
          </a:p>
          <a:p>
            <a:pPr lvl="1">
              <a:spcBef>
                <a:spcPts val="600"/>
              </a:spcBef>
              <a:spcAft>
                <a:spcPts val="600"/>
              </a:spcAft>
              <a:buFont typeface="Wingdings" panose="05000000000000000000" pitchFamily="2" charset="2"/>
              <a:buChar char="§"/>
            </a:pPr>
            <a:r>
              <a:rPr lang="en-US" sz="1800" dirty="0">
                <a:latin typeface="Arial" panose="020B0604020202020204" pitchFamily="34" charset="0"/>
                <a:cs typeface="Arial" panose="020B0604020202020204" pitchFamily="34" charset="0"/>
              </a:rPr>
              <a:t> In this case we add geom_point to add a layer with points (dot) elements as the geometric shapes to represent the data.</a:t>
            </a:r>
          </a:p>
          <a:p>
            <a:pPr marL="457200" lvl="1" indent="0">
              <a:spcBef>
                <a:spcPts val="600"/>
              </a:spcBef>
              <a:spcAft>
                <a:spcPts val="600"/>
              </a:spcAft>
              <a:buNone/>
            </a:pPr>
            <a:r>
              <a:rPr lang="en-US" sz="1800" dirty="0" err="1">
                <a:solidFill>
                  <a:srgbClr val="1A107E"/>
                </a:solidFill>
                <a:latin typeface="Lucida Console" panose="020B0609040504020204" pitchFamily="49" charset="0"/>
                <a:cs typeface="Arial" panose="020B0604020202020204" pitchFamily="34" charset="0"/>
              </a:rPr>
              <a:t>ggplot</a:t>
            </a:r>
            <a:r>
              <a:rPr lang="en-US" sz="1800" dirty="0">
                <a:latin typeface="Lucida Console" panose="020B0609040504020204" pitchFamily="49" charset="0"/>
                <a:cs typeface="Arial" panose="020B0604020202020204" pitchFamily="34" charset="0"/>
              </a:rPr>
              <a:t>(</a:t>
            </a:r>
            <a:r>
              <a:rPr lang="en-US" sz="1800" dirty="0" err="1">
                <a:latin typeface="Lucida Console" panose="020B0609040504020204" pitchFamily="49" charset="0"/>
                <a:cs typeface="Arial" panose="020B0604020202020204" pitchFamily="34" charset="0"/>
              </a:rPr>
              <a:t>mpg,aes</a:t>
            </a:r>
            <a:r>
              <a:rPr lang="en-US" sz="1800" dirty="0">
                <a:latin typeface="Lucida Console" panose="020B0609040504020204" pitchFamily="49" charset="0"/>
                <a:cs typeface="Arial" panose="020B0604020202020204" pitchFamily="34" charset="0"/>
              </a:rPr>
              <a:t>(x=</a:t>
            </a:r>
            <a:r>
              <a:rPr lang="en-US" sz="1800" dirty="0" err="1">
                <a:latin typeface="Lucida Console" panose="020B0609040504020204" pitchFamily="49" charset="0"/>
                <a:cs typeface="Arial" panose="020B0604020202020204" pitchFamily="34" charset="0"/>
              </a:rPr>
              <a:t>displ,y</a:t>
            </a:r>
            <a:r>
              <a:rPr lang="en-US" sz="1800" dirty="0">
                <a:latin typeface="Lucida Console" panose="020B0609040504020204" pitchFamily="49" charset="0"/>
                <a:cs typeface="Arial" panose="020B0604020202020204" pitchFamily="34" charset="0"/>
              </a:rPr>
              <a:t>=</a:t>
            </a:r>
            <a:r>
              <a:rPr lang="en-US" sz="1800" dirty="0" err="1">
                <a:latin typeface="Lucida Console" panose="020B0609040504020204" pitchFamily="49" charset="0"/>
                <a:cs typeface="Arial" panose="020B0604020202020204" pitchFamily="34" charset="0"/>
              </a:rPr>
              <a:t>hwy</a:t>
            </a:r>
            <a:r>
              <a:rPr lang="en-US" sz="1800" dirty="0">
                <a:latin typeface="Lucida Console" panose="020B0609040504020204" pitchFamily="49" charset="0"/>
                <a:cs typeface="Arial" panose="020B0604020202020204" pitchFamily="34" charset="0"/>
              </a:rPr>
              <a:t>))+ </a:t>
            </a:r>
            <a:r>
              <a:rPr lang="en-US" sz="1800" dirty="0">
                <a:solidFill>
                  <a:srgbClr val="1A107E"/>
                </a:solidFill>
                <a:latin typeface="Lucida Console" panose="020B0609040504020204" pitchFamily="49" charset="0"/>
                <a:cs typeface="Arial" panose="020B0604020202020204" pitchFamily="34" charset="0"/>
              </a:rPr>
              <a:t>geom_point</a:t>
            </a:r>
            <a:r>
              <a:rPr lang="en-US" sz="1800" dirty="0">
                <a:latin typeface="Lucida Console" panose="020B0609040504020204" pitchFamily="49" charset="0"/>
                <a:cs typeface="Arial" panose="020B0604020202020204" pitchFamily="34" charset="0"/>
              </a:rPr>
              <a:t>()</a:t>
            </a:r>
          </a:p>
          <a:p>
            <a:pPr lvl="1">
              <a:spcBef>
                <a:spcPts val="600"/>
              </a:spcBef>
              <a:spcAft>
                <a:spcPts val="600"/>
              </a:spcAft>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a:p>
            <a:pPr lvl="1">
              <a:spcBef>
                <a:spcPts val="600"/>
              </a:spcBef>
              <a:spcAft>
                <a:spcPts val="600"/>
              </a:spcAft>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8603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B7ED6-B20F-4C51-977D-7DD5E64981A2}"/>
              </a:ext>
            </a:extLst>
          </p:cNvPr>
          <p:cNvSpPr>
            <a:spLocks noGrp="1"/>
          </p:cNvSpPr>
          <p:nvPr>
            <p:ph type="title"/>
          </p:nvPr>
        </p:nvSpPr>
        <p:spPr/>
        <p:txBody>
          <a:bodyPr>
            <a:normAutofit/>
          </a:bodyPr>
          <a:lstStyle/>
          <a:p>
            <a:pPr algn="ctr"/>
            <a:r>
              <a:rPr lang="en-US" sz="3800" dirty="0">
                <a:latin typeface="Arial" panose="020B0604020202020204" pitchFamily="34" charset="0"/>
                <a:cs typeface="Arial" panose="020B0604020202020204" pitchFamily="34" charset="0"/>
              </a:rPr>
              <a:t>ggplot2</a:t>
            </a:r>
          </a:p>
        </p:txBody>
      </p:sp>
      <p:sp>
        <p:nvSpPr>
          <p:cNvPr id="3" name="Content Placeholder 2">
            <a:extLst>
              <a:ext uri="{FF2B5EF4-FFF2-40B4-BE49-F238E27FC236}">
                <a16:creationId xmlns:a16="http://schemas.microsoft.com/office/drawing/2014/main" id="{00C2CA70-2D5F-4F7B-9D87-5B4E26940801}"/>
              </a:ext>
            </a:extLst>
          </p:cNvPr>
          <p:cNvSpPr>
            <a:spLocks noGrp="1"/>
          </p:cNvSpPr>
          <p:nvPr>
            <p:ph idx="1"/>
          </p:nvPr>
        </p:nvSpPr>
        <p:spPr>
          <a:xfrm>
            <a:off x="838200" y="1562100"/>
            <a:ext cx="10515600" cy="4824413"/>
          </a:xfrm>
        </p:spPr>
        <p:txBody>
          <a:bodyPr>
            <a:normAutofit/>
          </a:bodyPr>
          <a:lstStyle/>
          <a:p>
            <a:pPr marL="0" indent="0">
              <a:spcBef>
                <a:spcPts val="600"/>
              </a:spcBef>
              <a:spcAft>
                <a:spcPts val="600"/>
              </a:spcAft>
              <a:buNone/>
            </a:pPr>
            <a:r>
              <a:rPr lang="en-US" sz="1700" dirty="0" err="1">
                <a:solidFill>
                  <a:srgbClr val="1A107E"/>
                </a:solidFill>
                <a:latin typeface="Lucida Console" panose="020B0609040504020204" pitchFamily="49" charset="0"/>
                <a:cs typeface="Arial" panose="020B0604020202020204" pitchFamily="34" charset="0"/>
              </a:rPr>
              <a:t>ggplot</a:t>
            </a:r>
            <a:r>
              <a:rPr lang="en-US" sz="1700" dirty="0">
                <a:latin typeface="Lucida Console" panose="020B0609040504020204" pitchFamily="49" charset="0"/>
                <a:cs typeface="Arial" panose="020B0604020202020204" pitchFamily="34" charset="0"/>
              </a:rPr>
              <a:t>(mpg)</a:t>
            </a:r>
            <a:r>
              <a:rPr lang="en-US" sz="1700" dirty="0">
                <a:solidFill>
                  <a:srgbClr val="1A107E"/>
                </a:solidFill>
                <a:latin typeface="Lucida Console" panose="020B0609040504020204" pitchFamily="49" charset="0"/>
                <a:cs typeface="Arial" panose="020B0604020202020204" pitchFamily="34" charset="0"/>
              </a:rPr>
              <a:t> #create blank canvas</a:t>
            </a:r>
          </a:p>
          <a:p>
            <a:pPr marL="0" indent="0">
              <a:spcBef>
                <a:spcPts val="600"/>
              </a:spcBef>
              <a:spcAft>
                <a:spcPts val="600"/>
              </a:spcAft>
              <a:buNone/>
            </a:pPr>
            <a:r>
              <a:rPr lang="en-US" sz="1700" dirty="0" err="1">
                <a:solidFill>
                  <a:srgbClr val="1A107E"/>
                </a:solidFill>
                <a:latin typeface="Lucida Console" panose="020B0609040504020204" pitchFamily="49" charset="0"/>
                <a:cs typeface="Arial" panose="020B0604020202020204" pitchFamily="34" charset="0"/>
              </a:rPr>
              <a:t>ggplot</a:t>
            </a:r>
            <a:r>
              <a:rPr lang="en-US" sz="1700" dirty="0">
                <a:latin typeface="Lucida Console" panose="020B0609040504020204" pitchFamily="49" charset="0"/>
                <a:cs typeface="Arial" panose="020B0604020202020204" pitchFamily="34" charset="0"/>
              </a:rPr>
              <a:t>(</a:t>
            </a:r>
            <a:r>
              <a:rPr lang="en-US" sz="1700" dirty="0" err="1">
                <a:latin typeface="Lucida Console" panose="020B0609040504020204" pitchFamily="49" charset="0"/>
                <a:cs typeface="Arial" panose="020B0604020202020204" pitchFamily="34" charset="0"/>
              </a:rPr>
              <a:t>mpg,aes</a:t>
            </a:r>
            <a:r>
              <a:rPr lang="en-US" sz="1700" dirty="0">
                <a:latin typeface="Lucida Console" panose="020B0609040504020204" pitchFamily="49" charset="0"/>
                <a:cs typeface="Arial" panose="020B0604020202020204" pitchFamily="34" charset="0"/>
              </a:rPr>
              <a:t>(x=</a:t>
            </a:r>
            <a:r>
              <a:rPr lang="en-US" sz="1700" dirty="0" err="1">
                <a:latin typeface="Lucida Console" panose="020B0609040504020204" pitchFamily="49" charset="0"/>
                <a:cs typeface="Arial" panose="020B0604020202020204" pitchFamily="34" charset="0"/>
              </a:rPr>
              <a:t>displ,y</a:t>
            </a:r>
            <a:r>
              <a:rPr lang="en-US" sz="1700" dirty="0">
                <a:latin typeface="Lucida Console" panose="020B0609040504020204" pitchFamily="49" charset="0"/>
                <a:cs typeface="Arial" panose="020B0604020202020204" pitchFamily="34" charset="0"/>
              </a:rPr>
              <a:t>=</a:t>
            </a:r>
            <a:r>
              <a:rPr lang="en-US" sz="1700" dirty="0" err="1">
                <a:latin typeface="Lucida Console" panose="020B0609040504020204" pitchFamily="49" charset="0"/>
                <a:cs typeface="Arial" panose="020B0604020202020204" pitchFamily="34" charset="0"/>
              </a:rPr>
              <a:t>hwy</a:t>
            </a:r>
            <a:r>
              <a:rPr lang="en-US" sz="1700" dirty="0">
                <a:latin typeface="Lucida Console" panose="020B0609040504020204" pitchFamily="49" charset="0"/>
                <a:cs typeface="Arial" panose="020B0604020202020204" pitchFamily="34" charset="0"/>
              </a:rPr>
              <a:t>)) </a:t>
            </a:r>
            <a:r>
              <a:rPr lang="en-US" sz="1700" dirty="0">
                <a:solidFill>
                  <a:srgbClr val="1A107E"/>
                </a:solidFill>
                <a:latin typeface="Lucida Console" panose="020B0609040504020204" pitchFamily="49" charset="0"/>
                <a:cs typeface="Arial" panose="020B0604020202020204" pitchFamily="34" charset="0"/>
              </a:rPr>
              <a:t>#map variables of interest</a:t>
            </a:r>
          </a:p>
          <a:p>
            <a:pPr marL="0" indent="0">
              <a:spcBef>
                <a:spcPts val="600"/>
              </a:spcBef>
              <a:spcAft>
                <a:spcPts val="600"/>
              </a:spcAft>
              <a:buNone/>
            </a:pPr>
            <a:r>
              <a:rPr lang="en-US" sz="1700" dirty="0" err="1">
                <a:solidFill>
                  <a:srgbClr val="1A107E"/>
                </a:solidFill>
                <a:latin typeface="Lucida Console" panose="020B0609040504020204" pitchFamily="49" charset="0"/>
                <a:cs typeface="Arial" panose="020B0604020202020204" pitchFamily="34" charset="0"/>
              </a:rPr>
              <a:t>ggplot</a:t>
            </a:r>
            <a:r>
              <a:rPr lang="en-US" sz="1700" dirty="0">
                <a:latin typeface="Lucida Console" panose="020B0609040504020204" pitchFamily="49" charset="0"/>
                <a:cs typeface="Arial" panose="020B0604020202020204" pitchFamily="34" charset="0"/>
              </a:rPr>
              <a:t>(</a:t>
            </a:r>
            <a:r>
              <a:rPr lang="en-US" sz="1700" dirty="0" err="1">
                <a:latin typeface="Lucida Console" panose="020B0609040504020204" pitchFamily="49" charset="0"/>
                <a:cs typeface="Arial" panose="020B0604020202020204" pitchFamily="34" charset="0"/>
              </a:rPr>
              <a:t>mpg,aes</a:t>
            </a:r>
            <a:r>
              <a:rPr lang="en-US" sz="1700" dirty="0">
                <a:latin typeface="Lucida Console" panose="020B0609040504020204" pitchFamily="49" charset="0"/>
                <a:cs typeface="Arial" panose="020B0604020202020204" pitchFamily="34" charset="0"/>
              </a:rPr>
              <a:t>(x=</a:t>
            </a:r>
            <a:r>
              <a:rPr lang="en-US" sz="1700" dirty="0" err="1">
                <a:latin typeface="Lucida Console" panose="020B0609040504020204" pitchFamily="49" charset="0"/>
                <a:cs typeface="Arial" panose="020B0604020202020204" pitchFamily="34" charset="0"/>
              </a:rPr>
              <a:t>displ,y</a:t>
            </a:r>
            <a:r>
              <a:rPr lang="en-US" sz="1700" dirty="0">
                <a:latin typeface="Lucida Console" panose="020B0609040504020204" pitchFamily="49" charset="0"/>
                <a:cs typeface="Arial" panose="020B0604020202020204" pitchFamily="34" charset="0"/>
              </a:rPr>
              <a:t>=</a:t>
            </a:r>
            <a:r>
              <a:rPr lang="en-US" sz="1700" dirty="0" err="1">
                <a:latin typeface="Lucida Console" panose="020B0609040504020204" pitchFamily="49" charset="0"/>
                <a:cs typeface="Arial" panose="020B0604020202020204" pitchFamily="34" charset="0"/>
              </a:rPr>
              <a:t>hwy</a:t>
            </a:r>
            <a:r>
              <a:rPr lang="en-US" sz="1700" dirty="0">
                <a:latin typeface="Lucida Console" panose="020B0609040504020204" pitchFamily="49" charset="0"/>
                <a:cs typeface="Arial" panose="020B0604020202020204" pitchFamily="34" charset="0"/>
              </a:rPr>
              <a:t>))+ </a:t>
            </a:r>
            <a:r>
              <a:rPr lang="en-US" sz="1700" dirty="0">
                <a:solidFill>
                  <a:srgbClr val="1A107E"/>
                </a:solidFill>
                <a:latin typeface="Lucida Console" panose="020B0609040504020204" pitchFamily="49" charset="0"/>
                <a:cs typeface="Arial" panose="020B0604020202020204" pitchFamily="34" charset="0"/>
              </a:rPr>
              <a:t>geom_point</a:t>
            </a:r>
            <a:r>
              <a:rPr lang="en-US" sz="1700" dirty="0">
                <a:latin typeface="Lucida Console" panose="020B0609040504020204" pitchFamily="49" charset="0"/>
                <a:cs typeface="Arial" panose="020B0604020202020204" pitchFamily="34" charset="0"/>
              </a:rPr>
              <a:t>()</a:t>
            </a:r>
            <a:r>
              <a:rPr lang="en-US" sz="1700" dirty="0">
                <a:solidFill>
                  <a:srgbClr val="1A107E"/>
                </a:solidFill>
                <a:latin typeface="Lucida Console" panose="020B0609040504020204" pitchFamily="49" charset="0"/>
                <a:cs typeface="Arial" panose="020B0604020202020204" pitchFamily="34" charset="0"/>
              </a:rPr>
              <a:t> #plot data</a:t>
            </a:r>
          </a:p>
          <a:p>
            <a:pPr marL="0" indent="0">
              <a:spcBef>
                <a:spcPts val="600"/>
              </a:spcBef>
              <a:spcAft>
                <a:spcPts val="600"/>
              </a:spcAft>
              <a:buNone/>
            </a:pPr>
            <a:endParaRPr lang="en-US" sz="1800" dirty="0">
              <a:latin typeface="Lucida Console" panose="020B0609040504020204" pitchFamily="49" charset="0"/>
              <a:cs typeface="Arial" panose="020B0604020202020204" pitchFamily="34" charset="0"/>
            </a:endParaRPr>
          </a:p>
          <a:p>
            <a:pPr lvl="1">
              <a:spcBef>
                <a:spcPts val="600"/>
              </a:spcBef>
              <a:spcAft>
                <a:spcPts val="600"/>
              </a:spcAft>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a:p>
            <a:pPr lvl="1">
              <a:spcBef>
                <a:spcPts val="600"/>
              </a:spcBef>
              <a:spcAft>
                <a:spcPts val="600"/>
              </a:spcAft>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3B0692D-DC42-47A9-A344-CBFD29723C6C}"/>
              </a:ext>
            </a:extLst>
          </p:cNvPr>
          <p:cNvPicPr>
            <a:picLocks noChangeAspect="1"/>
          </p:cNvPicPr>
          <p:nvPr/>
        </p:nvPicPr>
        <p:blipFill>
          <a:blip r:embed="rId2"/>
          <a:stretch>
            <a:fillRect/>
          </a:stretch>
        </p:blipFill>
        <p:spPr>
          <a:xfrm>
            <a:off x="1523999" y="3114675"/>
            <a:ext cx="8601431" cy="2867144"/>
          </a:xfrm>
          <a:prstGeom prst="rect">
            <a:avLst/>
          </a:prstGeom>
        </p:spPr>
      </p:pic>
    </p:spTree>
    <p:extLst>
      <p:ext uri="{BB962C8B-B14F-4D97-AF65-F5344CB8AC3E}">
        <p14:creationId xmlns:p14="http://schemas.microsoft.com/office/powerpoint/2010/main" val="3597376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55A4B-E647-49D4-8979-AAD4D11F624B}"/>
              </a:ext>
            </a:extLst>
          </p:cNvPr>
          <p:cNvSpPr>
            <a:spLocks noGrp="1"/>
          </p:cNvSpPr>
          <p:nvPr>
            <p:ph type="title"/>
          </p:nvPr>
        </p:nvSpPr>
        <p:spPr>
          <a:xfrm>
            <a:off x="838200" y="365125"/>
            <a:ext cx="10515600" cy="930275"/>
          </a:xfrm>
        </p:spPr>
        <p:txBody>
          <a:bodyPr>
            <a:normAutofit fontScale="90000"/>
          </a:bodyPr>
          <a:lstStyle/>
          <a:p>
            <a:pPr algn="ctr"/>
            <a:r>
              <a:rPr lang="en-US" sz="3800" dirty="0">
                <a:latin typeface="Arial" panose="020B0604020202020204" pitchFamily="34" charset="0"/>
                <a:cs typeface="Arial" panose="020B0604020202020204" pitchFamily="34" charset="0"/>
              </a:rPr>
              <a:t>Aesthetic Mappings</a:t>
            </a:r>
            <a:br>
              <a:rPr lang="en-US" dirty="0"/>
            </a:br>
            <a:endParaRPr lang="en-US" dirty="0"/>
          </a:p>
        </p:txBody>
      </p:sp>
      <p:sp>
        <p:nvSpPr>
          <p:cNvPr id="3" name="Content Placeholder 2">
            <a:extLst>
              <a:ext uri="{FF2B5EF4-FFF2-40B4-BE49-F238E27FC236}">
                <a16:creationId xmlns:a16="http://schemas.microsoft.com/office/drawing/2014/main" id="{4185F32F-B358-4E8E-8657-8B6709C9DC68}"/>
              </a:ext>
            </a:extLst>
          </p:cNvPr>
          <p:cNvSpPr>
            <a:spLocks noGrp="1"/>
          </p:cNvSpPr>
          <p:nvPr>
            <p:ph idx="1"/>
          </p:nvPr>
        </p:nvSpPr>
        <p:spPr>
          <a:xfrm>
            <a:off x="490538" y="1100138"/>
            <a:ext cx="11114274" cy="4886325"/>
          </a:xfrm>
        </p:spPr>
        <p:txBody>
          <a:bodyPr>
            <a:normAutofit/>
          </a:bodyPr>
          <a:lstStyle/>
          <a:p>
            <a:r>
              <a:rPr lang="en-US" sz="2000" dirty="0">
                <a:latin typeface="Arial" panose="020B0604020202020204" pitchFamily="34" charset="0"/>
                <a:cs typeface="Arial" panose="020B0604020202020204" pitchFamily="34" charset="0"/>
              </a:rPr>
              <a:t>Aesthetic mappings take properties of the data to influence visual characteristics, such as position, color, size, shape, or transparency. Each visual characteristic can encode an aspect of the data and be used to convey information.</a:t>
            </a:r>
          </a:p>
          <a:p>
            <a:r>
              <a:rPr lang="en-US" sz="2000" dirty="0">
                <a:latin typeface="Arial" panose="020B0604020202020204" pitchFamily="34" charset="0"/>
                <a:cs typeface="Arial" panose="020B0604020202020204" pitchFamily="34" charset="0"/>
              </a:rPr>
              <a:t>All aesthetics are specified in the aes() function </a:t>
            </a:r>
          </a:p>
          <a:p>
            <a:pPr marL="457200" lvl="1" indent="0">
              <a:buNone/>
            </a:pPr>
            <a:r>
              <a:rPr lang="en-US" sz="1600" i="1" dirty="0">
                <a:latin typeface="Arial" panose="020B0604020202020204" pitchFamily="34" charset="0"/>
                <a:cs typeface="Arial" panose="020B0604020202020204" pitchFamily="34" charset="0"/>
              </a:rPr>
              <a:t>(geom layer has its own aes specification, shown in later slides)</a:t>
            </a:r>
          </a:p>
          <a:p>
            <a:pPr marL="0" indent="0">
              <a:buNone/>
            </a:pPr>
            <a:endParaRPr lang="en-US" sz="1800" dirty="0">
              <a:solidFill>
                <a:srgbClr val="1A107E"/>
              </a:solidFill>
              <a:latin typeface="Lucida Console" panose="020B0609040504020204" pitchFamily="49" charset="0"/>
            </a:endParaRPr>
          </a:p>
          <a:p>
            <a:pPr marL="0" indent="0">
              <a:buNone/>
            </a:pPr>
            <a:endParaRPr lang="en-US" sz="1800" dirty="0">
              <a:solidFill>
                <a:srgbClr val="1A107E"/>
              </a:solidFill>
              <a:latin typeface="Lucida Console" panose="020B0609040504020204" pitchFamily="49" charset="0"/>
            </a:endParaRPr>
          </a:p>
          <a:p>
            <a:pPr marL="0" indent="0">
              <a:buNone/>
            </a:pPr>
            <a:r>
              <a:rPr lang="en-US" sz="1800" dirty="0" err="1">
                <a:solidFill>
                  <a:srgbClr val="1A107E"/>
                </a:solidFill>
                <a:latin typeface="Lucida Console" panose="020B0609040504020204" pitchFamily="49" charset="0"/>
              </a:rPr>
              <a:t>ggplot</a:t>
            </a:r>
            <a:r>
              <a:rPr lang="en-US" sz="1800" dirty="0">
                <a:latin typeface="Lucida Console" panose="020B0609040504020204" pitchFamily="49" charset="0"/>
              </a:rPr>
              <a:t>(</a:t>
            </a:r>
            <a:r>
              <a:rPr lang="en-US" sz="1800" dirty="0" err="1">
                <a:latin typeface="Lucida Console" panose="020B0609040504020204" pitchFamily="49" charset="0"/>
              </a:rPr>
              <a:t>mpg,aes</a:t>
            </a:r>
            <a:r>
              <a:rPr lang="en-US" sz="1800" dirty="0">
                <a:latin typeface="Lucida Console" panose="020B0609040504020204" pitchFamily="49" charset="0"/>
              </a:rPr>
              <a:t>(x=</a:t>
            </a:r>
            <a:r>
              <a:rPr lang="en-US" sz="1800" dirty="0" err="1">
                <a:latin typeface="Lucida Console" panose="020B0609040504020204" pitchFamily="49" charset="0"/>
              </a:rPr>
              <a:t>displ,y</a:t>
            </a:r>
            <a:r>
              <a:rPr lang="en-US" sz="1800" dirty="0">
                <a:latin typeface="Lucida Console" panose="020B0609040504020204" pitchFamily="49" charset="0"/>
              </a:rPr>
              <a:t>=</a:t>
            </a:r>
            <a:r>
              <a:rPr lang="en-US" sz="1800" dirty="0" err="1">
                <a:latin typeface="Lucida Console" panose="020B0609040504020204" pitchFamily="49" charset="0"/>
              </a:rPr>
              <a:t>hwy</a:t>
            </a:r>
            <a:r>
              <a:rPr lang="en-US" sz="1800" dirty="0">
                <a:latin typeface="Lucida Console" panose="020B0609040504020204" pitchFamily="49" charset="0"/>
              </a:rPr>
              <a:t>,</a:t>
            </a:r>
          </a:p>
          <a:p>
            <a:pPr marL="0" indent="0">
              <a:buNone/>
            </a:pPr>
            <a:r>
              <a:rPr lang="en-US" sz="1800" dirty="0">
                <a:latin typeface="Lucida Console" panose="020B0609040504020204" pitchFamily="49" charset="0"/>
              </a:rPr>
              <a:t>   color = class))+ </a:t>
            </a:r>
            <a:r>
              <a:rPr lang="en-US" sz="1800" dirty="0">
                <a:solidFill>
                  <a:srgbClr val="1A107E"/>
                </a:solidFill>
                <a:latin typeface="Lucida Console" panose="020B0609040504020204" pitchFamily="49" charset="0"/>
              </a:rPr>
              <a:t>geom_point</a:t>
            </a:r>
            <a:r>
              <a:rPr lang="en-US" sz="1800" dirty="0">
                <a:latin typeface="Lucida Console" panose="020B0609040504020204" pitchFamily="49" charset="0"/>
              </a:rPr>
              <a:t>()</a:t>
            </a:r>
          </a:p>
          <a:p>
            <a:pPr marL="0" indent="0">
              <a:buNone/>
            </a:pPr>
            <a:r>
              <a:rPr lang="en-US" sz="1800" dirty="0">
                <a:latin typeface="Lucida Console" panose="020B0609040504020204" pitchFamily="49" charset="0"/>
              </a:rPr>
              <a:t> </a:t>
            </a:r>
          </a:p>
        </p:txBody>
      </p:sp>
      <p:pic>
        <p:nvPicPr>
          <p:cNvPr id="17411" name="Picture 3" descr="http://uc-r.github.io/public/images/visual/intro/unnamed-chunk-4-1.png">
            <a:extLst>
              <a:ext uri="{FF2B5EF4-FFF2-40B4-BE49-F238E27FC236}">
                <a16:creationId xmlns:a16="http://schemas.microsoft.com/office/drawing/2014/main" id="{7ABBF8B6-FCE6-4D19-94F0-6A30B0114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5462" y="2790825"/>
            <a:ext cx="5939015" cy="3195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7292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E7CE2-8D79-4A24-B91A-8E5FAB9C532C}"/>
              </a:ext>
            </a:extLst>
          </p:cNvPr>
          <p:cNvSpPr>
            <a:spLocks noGrp="1"/>
          </p:cNvSpPr>
          <p:nvPr>
            <p:ph type="title"/>
          </p:nvPr>
        </p:nvSpPr>
        <p:spPr>
          <a:xfrm>
            <a:off x="838200" y="384176"/>
            <a:ext cx="10515600" cy="1068388"/>
          </a:xfrm>
        </p:spPr>
        <p:txBody>
          <a:bodyPr>
            <a:normAutofit fontScale="90000"/>
          </a:bodyPr>
          <a:lstStyle/>
          <a:p>
            <a:pPr algn="ctr"/>
            <a:r>
              <a:rPr lang="en-US" sz="3800" dirty="0">
                <a:latin typeface="Arial" panose="020B0604020202020204" pitchFamily="34" charset="0"/>
                <a:cs typeface="Arial" panose="020B0604020202020204" pitchFamily="34" charset="0"/>
              </a:rPr>
              <a:t>Types of </a:t>
            </a:r>
            <a:r>
              <a:rPr lang="en-US" sz="3800" dirty="0" err="1">
                <a:latin typeface="Arial" panose="020B0604020202020204" pitchFamily="34" charset="0"/>
                <a:cs typeface="Arial" panose="020B0604020202020204" pitchFamily="34" charset="0"/>
              </a:rPr>
              <a:t>Geoms</a:t>
            </a:r>
            <a:br>
              <a:rPr lang="en-US" dirty="0"/>
            </a:br>
            <a:endParaRPr lang="en-US" dirty="0"/>
          </a:p>
        </p:txBody>
      </p:sp>
      <p:sp>
        <p:nvSpPr>
          <p:cNvPr id="3" name="Content Placeholder 2">
            <a:extLst>
              <a:ext uri="{FF2B5EF4-FFF2-40B4-BE49-F238E27FC236}">
                <a16:creationId xmlns:a16="http://schemas.microsoft.com/office/drawing/2014/main" id="{6411497B-597D-40C7-950E-98023F4BD7E5}"/>
              </a:ext>
            </a:extLst>
          </p:cNvPr>
          <p:cNvSpPr>
            <a:spLocks noGrp="1"/>
          </p:cNvSpPr>
          <p:nvPr>
            <p:ph idx="1"/>
          </p:nvPr>
        </p:nvSpPr>
        <p:spPr>
          <a:xfrm>
            <a:off x="685800" y="1214438"/>
            <a:ext cx="10934700" cy="5259385"/>
          </a:xfrm>
        </p:spPr>
        <p:txBody>
          <a:bodyPr>
            <a:normAutofit fontScale="85000" lnSpcReduction="10000"/>
          </a:bodyPr>
          <a:lstStyle/>
          <a:p>
            <a:pPr marL="0" indent="0">
              <a:lnSpc>
                <a:spcPct val="120000"/>
              </a:lnSpc>
              <a:spcBef>
                <a:spcPts val="600"/>
              </a:spcBef>
              <a:spcAft>
                <a:spcPts val="600"/>
              </a:spcAft>
              <a:buNone/>
            </a:pPr>
            <a:r>
              <a:rPr lang="en-US" sz="2400" dirty="0">
                <a:latin typeface="Arial" panose="020B0604020202020204" pitchFamily="34" charset="0"/>
                <a:cs typeface="Arial" panose="020B0604020202020204" pitchFamily="34" charset="0"/>
              </a:rPr>
              <a:t>The most obvious distinction between plots is what </a:t>
            </a:r>
            <a:r>
              <a:rPr lang="en-US" sz="2400" dirty="0" err="1">
                <a:latin typeface="Arial" panose="020B0604020202020204" pitchFamily="34" charset="0"/>
                <a:cs typeface="Arial" panose="020B0604020202020204" pitchFamily="34" charset="0"/>
              </a:rPr>
              <a:t>geoms</a:t>
            </a:r>
            <a:r>
              <a:rPr lang="en-US" sz="2400" dirty="0">
                <a:latin typeface="Arial" panose="020B0604020202020204" pitchFamily="34" charset="0"/>
                <a:cs typeface="Arial" panose="020B0604020202020204" pitchFamily="34" charset="0"/>
              </a:rPr>
              <a:t> (geometric objects) they include, </a:t>
            </a:r>
            <a:r>
              <a:rPr lang="en-US" sz="2400" dirty="0">
                <a:latin typeface="Lucida Console" panose="020B0609040504020204" pitchFamily="49" charset="0"/>
                <a:cs typeface="Arial" panose="020B0604020202020204" pitchFamily="34" charset="0"/>
              </a:rPr>
              <a:t>ggplot2</a:t>
            </a:r>
            <a:r>
              <a:rPr lang="en-US" sz="2400" dirty="0">
                <a:latin typeface="Arial" panose="020B0604020202020204" pitchFamily="34" charset="0"/>
                <a:cs typeface="Arial" panose="020B0604020202020204" pitchFamily="34" charset="0"/>
              </a:rPr>
              <a:t> supports a number of types of </a:t>
            </a:r>
            <a:r>
              <a:rPr lang="en-US" sz="2400" dirty="0" err="1">
                <a:latin typeface="Arial" panose="020B0604020202020204" pitchFamily="34" charset="0"/>
                <a:cs typeface="Arial" panose="020B0604020202020204" pitchFamily="34" charset="0"/>
              </a:rPr>
              <a:t>geoms</a:t>
            </a:r>
            <a:r>
              <a:rPr lang="en-US" sz="2400" dirty="0">
                <a:latin typeface="Arial" panose="020B0604020202020204" pitchFamily="34" charset="0"/>
                <a:cs typeface="Arial" panose="020B0604020202020204" pitchFamily="34" charset="0"/>
              </a:rPr>
              <a:t>, including:</a:t>
            </a:r>
          </a:p>
          <a:p>
            <a:pPr lvl="1">
              <a:lnSpc>
                <a:spcPct val="120000"/>
              </a:lnSpc>
              <a:spcBef>
                <a:spcPts val="600"/>
              </a:spcBef>
              <a:spcAft>
                <a:spcPts val="600"/>
              </a:spcAft>
            </a:pPr>
            <a:r>
              <a:rPr lang="en-US" b="1" dirty="0">
                <a:latin typeface="Lucida Console" panose="020B0609040504020204" pitchFamily="49" charset="0"/>
                <a:cs typeface="Arial" panose="020B0604020202020204" pitchFamily="34" charset="0"/>
              </a:rPr>
              <a:t>geom_point </a:t>
            </a:r>
            <a:r>
              <a:rPr lang="en-US" dirty="0">
                <a:latin typeface="Arial" panose="020B0604020202020204" pitchFamily="34" charset="0"/>
                <a:cs typeface="Arial" panose="020B0604020202020204" pitchFamily="34" charset="0"/>
              </a:rPr>
              <a:t>for drawing individual points (</a:t>
            </a:r>
            <a:r>
              <a:rPr lang="en-US" dirty="0" err="1">
                <a:latin typeface="Arial" panose="020B0604020202020204" pitchFamily="34" charset="0"/>
                <a:cs typeface="Arial" panose="020B0604020202020204" pitchFamily="34" charset="0"/>
              </a:rPr>
              <a:t>i.e.,a</a:t>
            </a:r>
            <a:r>
              <a:rPr lang="en-US" dirty="0">
                <a:latin typeface="Arial" panose="020B0604020202020204" pitchFamily="34" charset="0"/>
                <a:cs typeface="Arial" panose="020B0604020202020204" pitchFamily="34" charset="0"/>
              </a:rPr>
              <a:t> scatter plot)</a:t>
            </a:r>
          </a:p>
          <a:p>
            <a:pPr lvl="1">
              <a:lnSpc>
                <a:spcPct val="120000"/>
              </a:lnSpc>
              <a:spcBef>
                <a:spcPts val="600"/>
              </a:spcBef>
              <a:spcAft>
                <a:spcPts val="600"/>
              </a:spcAft>
            </a:pPr>
            <a:r>
              <a:rPr lang="en-US" b="1" dirty="0" err="1">
                <a:latin typeface="Lucida Console" panose="020B0609040504020204" pitchFamily="49" charset="0"/>
                <a:cs typeface="Arial" panose="020B0604020202020204" pitchFamily="34" charset="0"/>
              </a:rPr>
              <a:t>geom_line</a:t>
            </a:r>
            <a:r>
              <a:rPr lang="en-US" b="1" dirty="0">
                <a:latin typeface="Lucida Console" panose="020B0609040504020204" pitchFamily="49" charset="0"/>
                <a:cs typeface="Arial" panose="020B0604020202020204" pitchFamily="34" charset="0"/>
              </a:rPr>
              <a:t> </a:t>
            </a:r>
            <a:r>
              <a:rPr lang="en-US" dirty="0">
                <a:latin typeface="Arial" panose="020B0604020202020204" pitchFamily="34" charset="0"/>
                <a:cs typeface="Arial" panose="020B0604020202020204" pitchFamily="34" charset="0"/>
              </a:rPr>
              <a:t>for drawing lines (i.e., for a line charts)</a:t>
            </a:r>
          </a:p>
          <a:p>
            <a:pPr lvl="1">
              <a:lnSpc>
                <a:spcPct val="120000"/>
              </a:lnSpc>
              <a:spcBef>
                <a:spcPts val="600"/>
              </a:spcBef>
              <a:spcAft>
                <a:spcPts val="600"/>
              </a:spcAft>
            </a:pPr>
            <a:r>
              <a:rPr lang="en-US" b="1" dirty="0" err="1">
                <a:latin typeface="Lucida Console" panose="020B0609040504020204" pitchFamily="49" charset="0"/>
                <a:cs typeface="Arial" panose="020B0604020202020204" pitchFamily="34" charset="0"/>
              </a:rPr>
              <a:t>geom_smooth</a:t>
            </a:r>
            <a:r>
              <a:rPr lang="en-US" b="1" dirty="0">
                <a:latin typeface="Lucida Console" panose="020B0609040504020204" pitchFamily="49" charset="0"/>
                <a:cs typeface="Arial" panose="020B0604020202020204" pitchFamily="34" charset="0"/>
              </a:rPr>
              <a:t> </a:t>
            </a:r>
            <a:r>
              <a:rPr lang="en-US" dirty="0">
                <a:latin typeface="Arial" panose="020B0604020202020204" pitchFamily="34" charset="0"/>
                <a:cs typeface="Arial" panose="020B0604020202020204" pitchFamily="34" charset="0"/>
              </a:rPr>
              <a:t>for drawing smoothed lines (i.e., for simple trends or approximations)</a:t>
            </a:r>
          </a:p>
          <a:p>
            <a:pPr lvl="1">
              <a:lnSpc>
                <a:spcPct val="120000"/>
              </a:lnSpc>
              <a:spcBef>
                <a:spcPts val="600"/>
              </a:spcBef>
              <a:spcAft>
                <a:spcPts val="600"/>
              </a:spcAft>
            </a:pPr>
            <a:r>
              <a:rPr lang="en-US" b="1" dirty="0" err="1">
                <a:latin typeface="Lucida Console" panose="020B0609040504020204" pitchFamily="49" charset="0"/>
                <a:cs typeface="Arial" panose="020B0604020202020204" pitchFamily="34" charset="0"/>
              </a:rPr>
              <a:t>geom_bar</a:t>
            </a:r>
            <a:r>
              <a:rPr lang="en-US" b="1" dirty="0">
                <a:latin typeface="Lucida Console" panose="020B0609040504020204" pitchFamily="49" charset="0"/>
                <a:cs typeface="Arial" panose="020B0604020202020204" pitchFamily="34" charset="0"/>
              </a:rPr>
              <a:t> </a:t>
            </a:r>
            <a:r>
              <a:rPr lang="en-US" dirty="0">
                <a:latin typeface="Arial" panose="020B0604020202020204" pitchFamily="34" charset="0"/>
                <a:cs typeface="Arial" panose="020B0604020202020204" pitchFamily="34" charset="0"/>
              </a:rPr>
              <a:t>for drawing bars (i.e., for bar charts)</a:t>
            </a:r>
          </a:p>
          <a:p>
            <a:pPr lvl="1">
              <a:lnSpc>
                <a:spcPct val="120000"/>
              </a:lnSpc>
              <a:spcBef>
                <a:spcPts val="600"/>
              </a:spcBef>
              <a:spcAft>
                <a:spcPts val="600"/>
              </a:spcAft>
            </a:pPr>
            <a:r>
              <a:rPr lang="en-US" b="1" dirty="0" err="1">
                <a:latin typeface="Lucida Console" panose="020B0609040504020204" pitchFamily="49" charset="0"/>
                <a:cs typeface="Arial" panose="020B0604020202020204" pitchFamily="34" charset="0"/>
              </a:rPr>
              <a:t>geom_histogram</a:t>
            </a:r>
            <a:r>
              <a:rPr lang="en-US" b="1" dirty="0">
                <a:latin typeface="Lucida Console" panose="020B0609040504020204" pitchFamily="49" charset="0"/>
                <a:cs typeface="Arial" panose="020B0604020202020204" pitchFamily="34" charset="0"/>
              </a:rPr>
              <a:t> </a:t>
            </a:r>
            <a:r>
              <a:rPr lang="en-US" dirty="0">
                <a:latin typeface="Arial" panose="020B0604020202020204" pitchFamily="34" charset="0"/>
                <a:cs typeface="Arial" panose="020B0604020202020204" pitchFamily="34" charset="0"/>
              </a:rPr>
              <a:t>for drawing binned values (i.e., a histogram)</a:t>
            </a:r>
          </a:p>
          <a:p>
            <a:pPr lvl="1">
              <a:lnSpc>
                <a:spcPct val="120000"/>
              </a:lnSpc>
              <a:spcBef>
                <a:spcPts val="600"/>
              </a:spcBef>
              <a:spcAft>
                <a:spcPts val="600"/>
              </a:spcAft>
            </a:pPr>
            <a:r>
              <a:rPr lang="en-US" b="1" dirty="0" err="1">
                <a:latin typeface="Lucida Console" panose="020B0609040504020204" pitchFamily="49" charset="0"/>
                <a:cs typeface="Arial" panose="020B0604020202020204" pitchFamily="34" charset="0"/>
              </a:rPr>
              <a:t>geom_polygon</a:t>
            </a:r>
            <a:r>
              <a:rPr lang="en-US" b="1" dirty="0">
                <a:latin typeface="Lucida Console" panose="020B0609040504020204" pitchFamily="49" charset="0"/>
                <a:cs typeface="Arial" panose="020B0604020202020204" pitchFamily="34" charset="0"/>
              </a:rPr>
              <a:t> </a:t>
            </a:r>
            <a:r>
              <a:rPr lang="en-US" dirty="0">
                <a:latin typeface="Arial" panose="020B0604020202020204" pitchFamily="34" charset="0"/>
                <a:cs typeface="Arial" panose="020B0604020202020204" pitchFamily="34" charset="0"/>
              </a:rPr>
              <a:t>for drawing arbitrary shapes</a:t>
            </a:r>
          </a:p>
          <a:p>
            <a:pPr lvl="1">
              <a:lnSpc>
                <a:spcPct val="120000"/>
              </a:lnSpc>
              <a:spcBef>
                <a:spcPts val="600"/>
              </a:spcBef>
              <a:spcAft>
                <a:spcPts val="600"/>
              </a:spcAft>
            </a:pPr>
            <a:r>
              <a:rPr lang="en-US" b="1" dirty="0" err="1">
                <a:latin typeface="Lucida Console" panose="020B0609040504020204" pitchFamily="49" charset="0"/>
                <a:cs typeface="Arial" panose="020B0604020202020204" pitchFamily="34" charset="0"/>
              </a:rPr>
              <a:t>geom_map</a:t>
            </a:r>
            <a:r>
              <a:rPr lang="en-US" b="1" dirty="0">
                <a:latin typeface="Lucida Console" panose="020B0609040504020204" pitchFamily="49" charset="0"/>
                <a:cs typeface="Arial" panose="020B0604020202020204" pitchFamily="34" charset="0"/>
              </a:rPr>
              <a:t> </a:t>
            </a:r>
            <a:r>
              <a:rPr lang="en-US" dirty="0">
                <a:latin typeface="Arial" panose="020B0604020202020204" pitchFamily="34" charset="0"/>
                <a:cs typeface="Arial" panose="020B0604020202020204" pitchFamily="34" charset="0"/>
              </a:rPr>
              <a:t>for drawing polygons in the shape of a map</a:t>
            </a:r>
          </a:p>
          <a:p>
            <a:pPr marL="914400" lvl="2" indent="0">
              <a:lnSpc>
                <a:spcPct val="120000"/>
              </a:lnSpc>
              <a:spcBef>
                <a:spcPts val="600"/>
              </a:spcBef>
              <a:spcAft>
                <a:spcPts val="600"/>
              </a:spcAft>
              <a:buNone/>
            </a:pPr>
            <a:r>
              <a:rPr lang="en-US" dirty="0">
                <a:latin typeface="Arial" panose="020B0604020202020204" pitchFamily="34" charset="0"/>
                <a:cs typeface="Arial" panose="020B0604020202020204" pitchFamily="34" charset="0"/>
              </a:rPr>
              <a:t> (You can access the data to use for these maps by using the </a:t>
            </a:r>
            <a:r>
              <a:rPr lang="en-US" dirty="0" err="1">
                <a:latin typeface="Lucida Console" panose="020B0609040504020204" pitchFamily="49" charset="0"/>
                <a:cs typeface="Arial" panose="020B0604020202020204" pitchFamily="34" charset="0"/>
              </a:rPr>
              <a:t>map_data</a:t>
            </a:r>
            <a:r>
              <a:rPr lang="en-US" dirty="0">
                <a:latin typeface="Lucida Console" panose="020B0609040504020204" pitchFamily="49" charset="0"/>
                <a:cs typeface="Arial" panose="020B0604020202020204" pitchFamily="34" charset="0"/>
              </a:rPr>
              <a:t>() </a:t>
            </a:r>
            <a:r>
              <a:rPr lang="en-US" dirty="0">
                <a:latin typeface="Arial" panose="020B0604020202020204" pitchFamily="34" charset="0"/>
                <a:cs typeface="Arial" panose="020B0604020202020204" pitchFamily="34" charset="0"/>
              </a:rPr>
              <a:t>function).</a:t>
            </a:r>
          </a:p>
          <a:p>
            <a:pPr marL="0" indent="0">
              <a:lnSpc>
                <a:spcPct val="120000"/>
              </a:lnSpc>
              <a:spcBef>
                <a:spcPts val="600"/>
              </a:spcBef>
              <a:spcAft>
                <a:spcPts val="600"/>
              </a:spcAft>
              <a:buNone/>
            </a:pPr>
            <a:r>
              <a:rPr lang="en-US" sz="2100" b="1" dirty="0">
                <a:latin typeface="Arial" panose="020B0604020202020204" pitchFamily="34" charset="0"/>
                <a:cs typeface="Arial" panose="020B0604020202020204" pitchFamily="34" charset="0"/>
              </a:rPr>
              <a:t>Note: </a:t>
            </a:r>
            <a:r>
              <a:rPr lang="en-US" sz="2100" dirty="0">
                <a:latin typeface="Arial" panose="020B0604020202020204" pitchFamily="34" charset="0"/>
                <a:cs typeface="Arial" panose="020B0604020202020204" pitchFamily="34" charset="0"/>
              </a:rPr>
              <a:t>Almost all </a:t>
            </a:r>
            <a:r>
              <a:rPr lang="en-US" sz="2100" dirty="0" err="1">
                <a:latin typeface="Arial" panose="020B0604020202020204" pitchFamily="34" charset="0"/>
                <a:cs typeface="Arial" panose="020B0604020202020204" pitchFamily="34" charset="0"/>
              </a:rPr>
              <a:t>geoms</a:t>
            </a:r>
            <a:r>
              <a:rPr lang="en-US" sz="2100" dirty="0">
                <a:latin typeface="Arial" panose="020B0604020202020204" pitchFamily="34" charset="0"/>
                <a:cs typeface="Arial" panose="020B0604020202020204" pitchFamily="34" charset="0"/>
              </a:rPr>
              <a:t> require an x and y mapping at the bare minimum</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666070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F7536-5978-4C73-A473-F69EBAF634FD}"/>
              </a:ext>
            </a:extLst>
          </p:cNvPr>
          <p:cNvSpPr>
            <a:spLocks noGrp="1"/>
          </p:cNvSpPr>
          <p:nvPr>
            <p:ph type="title"/>
          </p:nvPr>
        </p:nvSpPr>
        <p:spPr/>
        <p:txBody>
          <a:bodyPr>
            <a:normAutofit/>
          </a:bodyPr>
          <a:lstStyle/>
          <a:p>
            <a:pPr algn="ctr"/>
            <a:r>
              <a:rPr lang="en-US" sz="3800" dirty="0" err="1">
                <a:latin typeface="Arial" panose="020B0604020202020204" pitchFamily="34" charset="0"/>
                <a:cs typeface="Arial" panose="020B0604020202020204" pitchFamily="34" charset="0"/>
              </a:rPr>
              <a:t>Geoms</a:t>
            </a:r>
            <a:endParaRPr lang="en-US" sz="3800"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CC86CB91-382D-4E40-B3D1-37D2BAA43D46}"/>
              </a:ext>
            </a:extLst>
          </p:cNvPr>
          <p:cNvPicPr>
            <a:picLocks noGrp="1" noChangeAspect="1"/>
          </p:cNvPicPr>
          <p:nvPr>
            <p:ph idx="1"/>
          </p:nvPr>
        </p:nvPicPr>
        <p:blipFill>
          <a:blip r:embed="rId2"/>
          <a:stretch>
            <a:fillRect/>
          </a:stretch>
        </p:blipFill>
        <p:spPr>
          <a:xfrm>
            <a:off x="5743575" y="1888303"/>
            <a:ext cx="5743575" cy="3829050"/>
          </a:xfrm>
          <a:prstGeom prst="rect">
            <a:avLst/>
          </a:prstGeom>
        </p:spPr>
      </p:pic>
      <p:sp>
        <p:nvSpPr>
          <p:cNvPr id="6" name="Rectangle 5">
            <a:extLst>
              <a:ext uri="{FF2B5EF4-FFF2-40B4-BE49-F238E27FC236}">
                <a16:creationId xmlns:a16="http://schemas.microsoft.com/office/drawing/2014/main" id="{EA74271C-2531-4F47-8BB3-6949F79C9741}"/>
              </a:ext>
            </a:extLst>
          </p:cNvPr>
          <p:cNvSpPr/>
          <p:nvPr/>
        </p:nvSpPr>
        <p:spPr>
          <a:xfrm>
            <a:off x="661988" y="1888303"/>
            <a:ext cx="4629150" cy="3693319"/>
          </a:xfrm>
          <a:prstGeom prst="rect">
            <a:avLst/>
          </a:prstGeom>
        </p:spPr>
        <p:txBody>
          <a:bodyPr wrap="square">
            <a:spAutoFit/>
          </a:bodyPr>
          <a:lstStyle/>
          <a:p>
            <a:r>
              <a:rPr lang="en-US" b="1" dirty="0">
                <a:latin typeface="Lucida Console" panose="020B0609040504020204" pitchFamily="49" charset="0"/>
              </a:rPr>
              <a:t>Left: </a:t>
            </a:r>
            <a:r>
              <a:rPr lang="en-US" dirty="0">
                <a:latin typeface="Lucida Console" panose="020B0609040504020204" pitchFamily="49" charset="0"/>
              </a:rPr>
              <a:t>x &amp; y mapping needed!</a:t>
            </a:r>
          </a:p>
          <a:p>
            <a:r>
              <a:rPr lang="en-US" dirty="0" err="1">
                <a:solidFill>
                  <a:srgbClr val="1A107E"/>
                </a:solidFill>
                <a:latin typeface="Lucida Console" panose="020B0609040504020204" pitchFamily="49" charset="0"/>
              </a:rPr>
              <a:t>ggplot</a:t>
            </a:r>
            <a:r>
              <a:rPr lang="en-US" dirty="0">
                <a:latin typeface="Lucida Console" panose="020B0609040504020204" pitchFamily="49" charset="0"/>
              </a:rPr>
              <a:t>(</a:t>
            </a:r>
            <a:r>
              <a:rPr lang="en-US" dirty="0" err="1">
                <a:latin typeface="Lucida Console" panose="020B0609040504020204" pitchFamily="49" charset="0"/>
              </a:rPr>
              <a:t>mpg,aes</a:t>
            </a:r>
            <a:r>
              <a:rPr lang="en-US" dirty="0">
                <a:latin typeface="Lucida Console" panose="020B0609040504020204" pitchFamily="49" charset="0"/>
              </a:rPr>
              <a:t>(x=</a:t>
            </a:r>
            <a:r>
              <a:rPr lang="en-US" dirty="0" err="1">
                <a:latin typeface="Lucida Console" panose="020B0609040504020204" pitchFamily="49" charset="0"/>
              </a:rPr>
              <a:t>displ,y</a:t>
            </a:r>
            <a:r>
              <a:rPr lang="en-US" dirty="0">
                <a:latin typeface="Lucida Console" panose="020B0609040504020204" pitchFamily="49" charset="0"/>
              </a:rPr>
              <a:t>=</a:t>
            </a:r>
            <a:r>
              <a:rPr lang="en-US" dirty="0" err="1">
                <a:latin typeface="Lucida Console" panose="020B0609040504020204" pitchFamily="49" charset="0"/>
              </a:rPr>
              <a:t>hwy</a:t>
            </a:r>
            <a:r>
              <a:rPr lang="en-US" dirty="0">
                <a:latin typeface="Lucida Console" panose="020B0609040504020204" pitchFamily="49" charset="0"/>
              </a:rPr>
              <a:t>))</a:t>
            </a:r>
          </a:p>
          <a:p>
            <a:r>
              <a:rPr lang="en-US" dirty="0">
                <a:latin typeface="Lucida Console" panose="020B0609040504020204" pitchFamily="49" charset="0"/>
              </a:rPr>
              <a:t>+ </a:t>
            </a:r>
            <a:r>
              <a:rPr lang="en-US" dirty="0">
                <a:solidFill>
                  <a:srgbClr val="1A107E"/>
                </a:solidFill>
                <a:latin typeface="Lucida Console" panose="020B0609040504020204" pitchFamily="49" charset="0"/>
              </a:rPr>
              <a:t>geom_point</a:t>
            </a:r>
            <a:r>
              <a:rPr lang="en-US" dirty="0">
                <a:latin typeface="Lucida Console" panose="020B0609040504020204" pitchFamily="49" charset="0"/>
              </a:rPr>
              <a:t>()</a:t>
            </a:r>
          </a:p>
          <a:p>
            <a:endParaRPr lang="en-US" dirty="0">
              <a:latin typeface="Lucida Console" panose="020B0609040504020204" pitchFamily="49" charset="0"/>
            </a:endParaRPr>
          </a:p>
          <a:p>
            <a:r>
              <a:rPr lang="en-US" dirty="0" err="1">
                <a:solidFill>
                  <a:srgbClr val="1A107E"/>
                </a:solidFill>
                <a:latin typeface="Lucida Console" panose="020B0609040504020204" pitchFamily="49" charset="0"/>
              </a:rPr>
              <a:t>ggplot</a:t>
            </a:r>
            <a:r>
              <a:rPr lang="en-US" dirty="0">
                <a:latin typeface="Lucida Console" panose="020B0609040504020204" pitchFamily="49" charset="0"/>
              </a:rPr>
              <a:t>(</a:t>
            </a:r>
            <a:r>
              <a:rPr lang="en-US" dirty="0" err="1">
                <a:latin typeface="Lucida Console" panose="020B0609040504020204" pitchFamily="49" charset="0"/>
              </a:rPr>
              <a:t>mpg,aes</a:t>
            </a:r>
            <a:r>
              <a:rPr lang="en-US" dirty="0">
                <a:latin typeface="Lucida Console" panose="020B0609040504020204" pitchFamily="49" charset="0"/>
              </a:rPr>
              <a:t>(x=</a:t>
            </a:r>
            <a:r>
              <a:rPr lang="en-US" dirty="0" err="1">
                <a:latin typeface="Lucida Console" panose="020B0609040504020204" pitchFamily="49" charset="0"/>
              </a:rPr>
              <a:t>displ,y</a:t>
            </a:r>
            <a:r>
              <a:rPr lang="en-US" dirty="0">
                <a:latin typeface="Lucida Console" panose="020B0609040504020204" pitchFamily="49" charset="0"/>
              </a:rPr>
              <a:t>=</a:t>
            </a:r>
            <a:r>
              <a:rPr lang="en-US" dirty="0" err="1">
                <a:latin typeface="Lucida Console" panose="020B0609040504020204" pitchFamily="49" charset="0"/>
              </a:rPr>
              <a:t>hwy</a:t>
            </a:r>
            <a:r>
              <a:rPr lang="en-US" dirty="0">
                <a:latin typeface="Lucida Console" panose="020B0609040504020204" pitchFamily="49" charset="0"/>
              </a:rPr>
              <a:t>))</a:t>
            </a:r>
          </a:p>
          <a:p>
            <a:r>
              <a:rPr lang="en-US" dirty="0">
                <a:latin typeface="Lucida Console" panose="020B0609040504020204" pitchFamily="49" charset="0"/>
              </a:rPr>
              <a:t>+ </a:t>
            </a:r>
            <a:r>
              <a:rPr lang="en-US" dirty="0" err="1">
                <a:solidFill>
                  <a:srgbClr val="1A107E"/>
                </a:solidFill>
                <a:latin typeface="Lucida Console" panose="020B0609040504020204" pitchFamily="49" charset="0"/>
              </a:rPr>
              <a:t>geom_smooth</a:t>
            </a:r>
            <a:r>
              <a:rPr lang="en-US" dirty="0">
                <a:latin typeface="Lucida Console" panose="020B0609040504020204" pitchFamily="49" charset="0"/>
              </a:rPr>
              <a:t>()</a:t>
            </a:r>
          </a:p>
          <a:p>
            <a:endParaRPr lang="en-US" dirty="0">
              <a:latin typeface="Lucida Console" panose="020B0609040504020204" pitchFamily="49" charset="0"/>
            </a:endParaRPr>
          </a:p>
          <a:p>
            <a:r>
              <a:rPr lang="en-US" b="1" dirty="0">
                <a:latin typeface="Lucida Console" panose="020B0609040504020204" pitchFamily="49" charset="0"/>
              </a:rPr>
              <a:t>Right</a:t>
            </a:r>
            <a:r>
              <a:rPr lang="en-US" dirty="0">
                <a:latin typeface="Lucida Console" panose="020B0609040504020204" pitchFamily="49" charset="0"/>
              </a:rPr>
              <a:t>: no y mapping needed!</a:t>
            </a:r>
          </a:p>
          <a:p>
            <a:r>
              <a:rPr lang="en-US" dirty="0" err="1">
                <a:solidFill>
                  <a:srgbClr val="1A107E"/>
                </a:solidFill>
                <a:latin typeface="Lucida Console" panose="020B0609040504020204" pitchFamily="49" charset="0"/>
              </a:rPr>
              <a:t>ggplot</a:t>
            </a:r>
            <a:r>
              <a:rPr lang="en-US" dirty="0">
                <a:latin typeface="Lucida Console" panose="020B0609040504020204" pitchFamily="49" charset="0"/>
              </a:rPr>
              <a:t>(</a:t>
            </a:r>
            <a:r>
              <a:rPr lang="en-US" dirty="0" err="1">
                <a:latin typeface="Lucida Console" panose="020B0609040504020204" pitchFamily="49" charset="0"/>
              </a:rPr>
              <a:t>mpg,aes</a:t>
            </a:r>
            <a:r>
              <a:rPr lang="en-US" dirty="0">
                <a:latin typeface="Lucida Console" panose="020B0609040504020204" pitchFamily="49" charset="0"/>
              </a:rPr>
              <a:t>(x=class))</a:t>
            </a:r>
          </a:p>
          <a:p>
            <a:r>
              <a:rPr lang="en-US" dirty="0">
                <a:latin typeface="Lucida Console" panose="020B0609040504020204" pitchFamily="49" charset="0"/>
              </a:rPr>
              <a:t>+ </a:t>
            </a:r>
            <a:r>
              <a:rPr lang="en-US" dirty="0" err="1">
                <a:solidFill>
                  <a:srgbClr val="1A107E"/>
                </a:solidFill>
                <a:latin typeface="Lucida Console" panose="020B0609040504020204" pitchFamily="49" charset="0"/>
              </a:rPr>
              <a:t>geom_bar</a:t>
            </a:r>
            <a:r>
              <a:rPr lang="en-US" dirty="0">
                <a:latin typeface="Lucida Console" panose="020B0609040504020204" pitchFamily="49" charset="0"/>
              </a:rPr>
              <a:t>() </a:t>
            </a:r>
          </a:p>
          <a:p>
            <a:endParaRPr lang="en-US" dirty="0">
              <a:latin typeface="Lucida Console" panose="020B0609040504020204" pitchFamily="49" charset="0"/>
            </a:endParaRPr>
          </a:p>
          <a:p>
            <a:r>
              <a:rPr lang="en-US" dirty="0" err="1">
                <a:solidFill>
                  <a:srgbClr val="1A107E"/>
                </a:solidFill>
                <a:latin typeface="Lucida Console" panose="020B0609040504020204" pitchFamily="49" charset="0"/>
              </a:rPr>
              <a:t>ggplot</a:t>
            </a:r>
            <a:r>
              <a:rPr lang="en-US" dirty="0">
                <a:latin typeface="Lucida Console" panose="020B0609040504020204" pitchFamily="49" charset="0"/>
              </a:rPr>
              <a:t>(</a:t>
            </a:r>
            <a:r>
              <a:rPr lang="en-US" dirty="0" err="1">
                <a:latin typeface="Lucida Console" panose="020B0609040504020204" pitchFamily="49" charset="0"/>
              </a:rPr>
              <a:t>mpg,aes</a:t>
            </a:r>
            <a:r>
              <a:rPr lang="en-US" dirty="0">
                <a:latin typeface="Lucida Console" panose="020B0609040504020204" pitchFamily="49" charset="0"/>
              </a:rPr>
              <a:t>(x=</a:t>
            </a:r>
            <a:r>
              <a:rPr lang="en-US" dirty="0" err="1">
                <a:latin typeface="Lucida Console" panose="020B0609040504020204" pitchFamily="49" charset="0"/>
              </a:rPr>
              <a:t>displ,y</a:t>
            </a:r>
            <a:r>
              <a:rPr lang="en-US" dirty="0">
                <a:latin typeface="Lucida Console" panose="020B0609040504020204" pitchFamily="49" charset="0"/>
              </a:rPr>
              <a:t>=</a:t>
            </a:r>
            <a:r>
              <a:rPr lang="en-US" dirty="0" err="1">
                <a:latin typeface="Lucida Console" panose="020B0609040504020204" pitchFamily="49" charset="0"/>
              </a:rPr>
              <a:t>hwy</a:t>
            </a:r>
            <a:r>
              <a:rPr lang="en-US" dirty="0">
                <a:latin typeface="Lucida Console" panose="020B0609040504020204" pitchFamily="49" charset="0"/>
              </a:rPr>
              <a:t>))</a:t>
            </a:r>
          </a:p>
          <a:p>
            <a:r>
              <a:rPr lang="en-US" dirty="0">
                <a:latin typeface="Lucida Console" panose="020B0609040504020204" pitchFamily="49" charset="0"/>
              </a:rPr>
              <a:t>+ </a:t>
            </a:r>
            <a:r>
              <a:rPr lang="en-US" dirty="0" err="1">
                <a:solidFill>
                  <a:srgbClr val="1A107E"/>
                </a:solidFill>
                <a:latin typeface="Lucida Console" panose="020B0609040504020204" pitchFamily="49" charset="0"/>
              </a:rPr>
              <a:t>geom_smooth</a:t>
            </a:r>
            <a:r>
              <a:rPr lang="en-US" dirty="0">
                <a:latin typeface="Lucida Console" panose="020B0609040504020204" pitchFamily="49" charset="0"/>
              </a:rPr>
              <a:t>()</a:t>
            </a:r>
          </a:p>
        </p:txBody>
      </p:sp>
    </p:spTree>
    <p:extLst>
      <p:ext uri="{BB962C8B-B14F-4D97-AF65-F5344CB8AC3E}">
        <p14:creationId xmlns:p14="http://schemas.microsoft.com/office/powerpoint/2010/main" val="1036384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5273C-0F80-4A83-B51B-BBBAEF1B7BAA}"/>
              </a:ext>
            </a:extLst>
          </p:cNvPr>
          <p:cNvSpPr>
            <a:spLocks noGrp="1"/>
          </p:cNvSpPr>
          <p:nvPr>
            <p:ph type="title"/>
          </p:nvPr>
        </p:nvSpPr>
        <p:spPr>
          <a:xfrm>
            <a:off x="876300" y="340788"/>
            <a:ext cx="10515600" cy="1097487"/>
          </a:xfrm>
        </p:spPr>
        <p:txBody>
          <a:bodyPr>
            <a:normAutofit/>
          </a:bodyPr>
          <a:lstStyle/>
          <a:p>
            <a:pPr algn="ctr"/>
            <a:r>
              <a:rPr lang="en-US" sz="3800" dirty="0">
                <a:latin typeface="Arial" panose="020B0604020202020204" pitchFamily="34" charset="0"/>
                <a:cs typeface="Arial" panose="020B0604020202020204" pitchFamily="34" charset="0"/>
              </a:rPr>
              <a:t>More on </a:t>
            </a:r>
            <a:r>
              <a:rPr lang="en-US" sz="3800" dirty="0" err="1">
                <a:latin typeface="Arial" panose="020B0604020202020204" pitchFamily="34" charset="0"/>
                <a:cs typeface="Arial" panose="020B0604020202020204" pitchFamily="34" charset="0"/>
              </a:rPr>
              <a:t>Geoms</a:t>
            </a:r>
            <a:endParaRPr lang="en-US" sz="3800" dirty="0">
              <a:latin typeface="Arial" panose="020B0604020202020204" pitchFamily="34" charset="0"/>
              <a:cs typeface="Arial" panose="020B0604020202020204" pitchFamily="34" charset="0"/>
            </a:endParaRPr>
          </a:p>
        </p:txBody>
      </p:sp>
      <p:pic>
        <p:nvPicPr>
          <p:cNvPr id="4" name="Content Placeholder 3">
            <a:extLst>
              <a:ext uri="{FF2B5EF4-FFF2-40B4-BE49-F238E27FC236}">
                <a16:creationId xmlns:a16="http://schemas.microsoft.com/office/drawing/2014/main" id="{B4AF4D84-D001-4199-A0EE-E274AD4AC3E5}"/>
              </a:ext>
            </a:extLst>
          </p:cNvPr>
          <p:cNvPicPr>
            <a:picLocks noGrp="1" noChangeAspect="1"/>
          </p:cNvPicPr>
          <p:nvPr>
            <p:ph idx="1"/>
          </p:nvPr>
        </p:nvPicPr>
        <p:blipFill>
          <a:blip r:embed="rId2"/>
          <a:stretch>
            <a:fillRect/>
          </a:stretch>
        </p:blipFill>
        <p:spPr>
          <a:xfrm>
            <a:off x="5018943" y="2388124"/>
            <a:ext cx="6644418" cy="3322209"/>
          </a:xfrm>
          <a:prstGeom prst="rect">
            <a:avLst/>
          </a:prstGeom>
        </p:spPr>
      </p:pic>
      <p:sp>
        <p:nvSpPr>
          <p:cNvPr id="5" name="Rectangle 4">
            <a:extLst>
              <a:ext uri="{FF2B5EF4-FFF2-40B4-BE49-F238E27FC236}">
                <a16:creationId xmlns:a16="http://schemas.microsoft.com/office/drawing/2014/main" id="{BC16EDE4-6E34-43E3-8186-0B46444ADA21}"/>
              </a:ext>
            </a:extLst>
          </p:cNvPr>
          <p:cNvSpPr/>
          <p:nvPr/>
        </p:nvSpPr>
        <p:spPr>
          <a:xfrm>
            <a:off x="523144" y="3449063"/>
            <a:ext cx="4495799" cy="1200329"/>
          </a:xfrm>
          <a:prstGeom prst="rect">
            <a:avLst/>
          </a:prstGeom>
        </p:spPr>
        <p:txBody>
          <a:bodyPr wrap="square">
            <a:spAutoFit/>
          </a:bodyPr>
          <a:lstStyle/>
          <a:p>
            <a:r>
              <a:rPr lang="en-US" dirty="0">
                <a:latin typeface="Lucida Console" panose="020B0609040504020204" pitchFamily="49" charset="0"/>
              </a:rPr>
              <a:t>#add points and smoothed line</a:t>
            </a:r>
          </a:p>
          <a:p>
            <a:endParaRPr lang="en-US" dirty="0">
              <a:latin typeface="Lucida Console" panose="020B0609040504020204" pitchFamily="49" charset="0"/>
            </a:endParaRPr>
          </a:p>
          <a:p>
            <a:r>
              <a:rPr lang="en-US" dirty="0" err="1">
                <a:solidFill>
                  <a:srgbClr val="1A107E"/>
                </a:solidFill>
                <a:latin typeface="Lucida Console" panose="020B0609040504020204" pitchFamily="49" charset="0"/>
              </a:rPr>
              <a:t>ggplot</a:t>
            </a:r>
            <a:r>
              <a:rPr lang="en-US" dirty="0">
                <a:latin typeface="Lucida Console" panose="020B0609040504020204" pitchFamily="49" charset="0"/>
              </a:rPr>
              <a:t>(</a:t>
            </a:r>
            <a:r>
              <a:rPr lang="en-US" dirty="0" err="1">
                <a:latin typeface="Lucida Console" panose="020B0609040504020204" pitchFamily="49" charset="0"/>
              </a:rPr>
              <a:t>mpg,aes</a:t>
            </a:r>
            <a:r>
              <a:rPr lang="en-US" dirty="0">
                <a:latin typeface="Lucida Console" panose="020B0609040504020204" pitchFamily="49" charset="0"/>
              </a:rPr>
              <a:t>(x=</a:t>
            </a:r>
            <a:r>
              <a:rPr lang="en-US" dirty="0" err="1">
                <a:latin typeface="Lucida Console" panose="020B0609040504020204" pitchFamily="49" charset="0"/>
              </a:rPr>
              <a:t>displ,y</a:t>
            </a:r>
            <a:r>
              <a:rPr lang="en-US" dirty="0">
                <a:latin typeface="Lucida Console" panose="020B0609040504020204" pitchFamily="49" charset="0"/>
              </a:rPr>
              <a:t>=</a:t>
            </a:r>
            <a:r>
              <a:rPr lang="en-US" dirty="0" err="1">
                <a:latin typeface="Lucida Console" panose="020B0609040504020204" pitchFamily="49" charset="0"/>
              </a:rPr>
              <a:t>hwy</a:t>
            </a:r>
            <a:r>
              <a:rPr lang="en-US" dirty="0">
                <a:latin typeface="Lucida Console" panose="020B0609040504020204" pitchFamily="49" charset="0"/>
              </a:rPr>
              <a:t>))</a:t>
            </a:r>
          </a:p>
          <a:p>
            <a:r>
              <a:rPr lang="en-US" dirty="0">
                <a:latin typeface="Lucida Console" panose="020B0609040504020204" pitchFamily="49" charset="0"/>
              </a:rPr>
              <a:t> + </a:t>
            </a:r>
            <a:r>
              <a:rPr lang="en-US" dirty="0">
                <a:solidFill>
                  <a:srgbClr val="1A107E"/>
                </a:solidFill>
                <a:latin typeface="Lucida Console" panose="020B0609040504020204" pitchFamily="49" charset="0"/>
              </a:rPr>
              <a:t>geom_point</a:t>
            </a:r>
            <a:r>
              <a:rPr lang="en-US" dirty="0">
                <a:latin typeface="Lucida Console" panose="020B0609040504020204" pitchFamily="49" charset="0"/>
              </a:rPr>
              <a:t>() + </a:t>
            </a:r>
            <a:r>
              <a:rPr lang="en-US" dirty="0" err="1">
                <a:solidFill>
                  <a:srgbClr val="1A107E"/>
                </a:solidFill>
                <a:latin typeface="Lucida Console" panose="020B0609040504020204" pitchFamily="49" charset="0"/>
              </a:rPr>
              <a:t>geom_smooth</a:t>
            </a:r>
            <a:r>
              <a:rPr lang="en-US" dirty="0">
                <a:latin typeface="Lucida Console" panose="020B0609040504020204" pitchFamily="49" charset="0"/>
              </a:rPr>
              <a:t>()</a:t>
            </a:r>
          </a:p>
        </p:txBody>
      </p:sp>
      <p:sp>
        <p:nvSpPr>
          <p:cNvPr id="6" name="Rectangle 5">
            <a:extLst>
              <a:ext uri="{FF2B5EF4-FFF2-40B4-BE49-F238E27FC236}">
                <a16:creationId xmlns:a16="http://schemas.microsoft.com/office/drawing/2014/main" id="{98564E6D-9BA8-4CAC-80F9-7A2BBE377C47}"/>
              </a:ext>
            </a:extLst>
          </p:cNvPr>
          <p:cNvSpPr/>
          <p:nvPr/>
        </p:nvSpPr>
        <p:spPr>
          <a:xfrm>
            <a:off x="800100" y="1438275"/>
            <a:ext cx="10015537" cy="707886"/>
          </a:xfrm>
          <a:prstGeom prst="rect">
            <a:avLst/>
          </a:prstGeom>
        </p:spPr>
        <p:txBody>
          <a:bodyPr wrap="square">
            <a:spAutoFit/>
          </a:bodyPr>
          <a:lstStyle/>
          <a:p>
            <a:pPr marL="285750" indent="-285750">
              <a:buFont typeface="Arial" panose="020B0604020202020204" pitchFamily="34" charset="0"/>
              <a:buChar char="•"/>
            </a:pPr>
            <a:r>
              <a:rPr lang="en-US" sz="2000" dirty="0" err="1">
                <a:latin typeface="Arial" panose="020B0604020202020204" pitchFamily="34" charset="0"/>
                <a:cs typeface="Arial" panose="020B0604020202020204" pitchFamily="34" charset="0"/>
              </a:rPr>
              <a:t>Geoms</a:t>
            </a:r>
            <a:r>
              <a:rPr lang="en-US" sz="2000" dirty="0">
                <a:latin typeface="Arial" panose="020B0604020202020204" pitchFamily="34" charset="0"/>
                <a:cs typeface="Arial" panose="020B0604020202020204" pitchFamily="34" charset="0"/>
              </a:rPr>
              <a:t> are powerful, in that you can create complex  graphs, illustrating multiple aspects of the data by adding multiple </a:t>
            </a:r>
            <a:r>
              <a:rPr lang="en-US" sz="2000" dirty="0" err="1">
                <a:latin typeface="Arial" panose="020B0604020202020204" pitchFamily="34" charset="0"/>
                <a:cs typeface="Arial" panose="020B0604020202020204" pitchFamily="34" charset="0"/>
              </a:rPr>
              <a:t>geoms</a:t>
            </a:r>
            <a:r>
              <a:rPr lang="en-US" sz="2000" dirty="0">
                <a:latin typeface="Arial" panose="020B0604020202020204" pitchFamily="34" charset="0"/>
                <a:cs typeface="Arial" panose="020B0604020202020204" pitchFamily="34" charset="0"/>
              </a:rPr>
              <a:t> to a plot </a:t>
            </a:r>
          </a:p>
        </p:txBody>
      </p:sp>
    </p:spTree>
    <p:extLst>
      <p:ext uri="{BB962C8B-B14F-4D97-AF65-F5344CB8AC3E}">
        <p14:creationId xmlns:p14="http://schemas.microsoft.com/office/powerpoint/2010/main" val="2099339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C0C04-68B3-40D9-AE14-F3873C425DF6}"/>
              </a:ext>
            </a:extLst>
          </p:cNvPr>
          <p:cNvSpPr>
            <a:spLocks noGrp="1"/>
          </p:cNvSpPr>
          <p:nvPr>
            <p:ph type="title"/>
          </p:nvPr>
        </p:nvSpPr>
        <p:spPr>
          <a:xfrm>
            <a:off x="838200" y="365125"/>
            <a:ext cx="10515600" cy="1082675"/>
          </a:xfrm>
        </p:spPr>
        <p:txBody>
          <a:bodyPr>
            <a:normAutofit/>
          </a:bodyPr>
          <a:lstStyle/>
          <a:p>
            <a:pPr algn="ctr"/>
            <a:r>
              <a:rPr lang="en-US" sz="3800" dirty="0">
                <a:latin typeface="Arial" panose="020B0604020202020204" pitchFamily="34" charset="0"/>
                <a:cs typeface="Arial" panose="020B0604020202020204" pitchFamily="34" charset="0"/>
              </a:rPr>
              <a:t>Geom and Aesthetics </a:t>
            </a:r>
          </a:p>
        </p:txBody>
      </p:sp>
      <p:sp>
        <p:nvSpPr>
          <p:cNvPr id="3" name="Content Placeholder 2">
            <a:extLst>
              <a:ext uri="{FF2B5EF4-FFF2-40B4-BE49-F238E27FC236}">
                <a16:creationId xmlns:a16="http://schemas.microsoft.com/office/drawing/2014/main" id="{EE370DA4-525B-4986-959A-00FDD19E4083}"/>
              </a:ext>
            </a:extLst>
          </p:cNvPr>
          <p:cNvSpPr>
            <a:spLocks noGrp="1"/>
          </p:cNvSpPr>
          <p:nvPr>
            <p:ph idx="1"/>
          </p:nvPr>
        </p:nvSpPr>
        <p:spPr>
          <a:xfrm>
            <a:off x="838199" y="1614488"/>
            <a:ext cx="10963275" cy="4562475"/>
          </a:xfrm>
        </p:spPr>
        <p:txBody>
          <a:bodyPr>
            <a:normAutofit/>
          </a:bodyPr>
          <a:lstStyle/>
          <a:p>
            <a:pPr marL="0" indent="0">
              <a:buNone/>
            </a:pPr>
            <a:r>
              <a:rPr lang="en-US" sz="2000" dirty="0">
                <a:latin typeface="Arial" panose="020B0604020202020204" pitchFamily="34" charset="0"/>
                <a:cs typeface="Arial" panose="020B0604020202020204" pitchFamily="34" charset="0"/>
              </a:rPr>
              <a:t>Aesthetics can vary for each geom to show multiple lines on the same plot (or with different colors, styles, </a:t>
            </a:r>
            <a:r>
              <a:rPr lang="en-US" sz="2000" dirty="0" err="1">
                <a:latin typeface="Arial" panose="020B0604020202020204" pitchFamily="34" charset="0"/>
                <a:cs typeface="Arial" panose="020B0604020202020204" pitchFamily="34" charset="0"/>
              </a:rPr>
              <a:t>etc</a:t>
            </a:r>
            <a:r>
              <a:rPr lang="en-US" sz="2000" dirty="0">
                <a:latin typeface="Arial" panose="020B0604020202020204" pitchFamily="34" charset="0"/>
                <a:cs typeface="Arial" panose="020B0604020202020204" pitchFamily="34" charset="0"/>
              </a:rPr>
              <a:t>). You can also assign each geom a different data argument to show multiple data sets in the same plot.</a:t>
            </a:r>
          </a:p>
          <a:p>
            <a:pPr marL="0" indent="0">
              <a:buNone/>
            </a:pPr>
            <a:r>
              <a:rPr lang="en-US" sz="1800" u="sng" dirty="0">
                <a:latin typeface="Arial" panose="020B0604020202020204" pitchFamily="34" charset="0"/>
                <a:cs typeface="Arial" panose="020B0604020202020204" pitchFamily="34" charset="0"/>
              </a:rPr>
              <a:t>Example</a:t>
            </a:r>
            <a:r>
              <a:rPr lang="en-US" sz="1800" dirty="0">
                <a:latin typeface="Arial" panose="020B0604020202020204" pitchFamily="34" charset="0"/>
                <a:cs typeface="Arial" panose="020B0604020202020204" pitchFamily="34" charset="0"/>
              </a:rPr>
              <a:t>: plot both points and a smooth line for the same x and y variable, but specify unique colors for each geom</a:t>
            </a:r>
            <a:endParaRPr lang="en-US" sz="1800" u="sng" dirty="0">
              <a:latin typeface="Arial" panose="020B0604020202020204" pitchFamily="34" charset="0"/>
              <a:cs typeface="Arial" panose="020B0604020202020204" pitchFamily="34" charset="0"/>
            </a:endParaRPr>
          </a:p>
          <a:p>
            <a:endParaRPr lang="en-US" sz="1300" dirty="0">
              <a:latin typeface="Arial" panose="020B0604020202020204" pitchFamily="34" charset="0"/>
              <a:cs typeface="Arial" panose="020B0604020202020204" pitchFamily="34" charset="0"/>
            </a:endParaRPr>
          </a:p>
          <a:p>
            <a:endParaRPr lang="en-US" sz="1300" dirty="0"/>
          </a:p>
          <a:p>
            <a:pPr marL="0" indent="0">
              <a:buNone/>
            </a:pPr>
            <a:r>
              <a:rPr lang="en-US" sz="1800" dirty="0" err="1">
                <a:solidFill>
                  <a:srgbClr val="1A107E"/>
                </a:solidFill>
                <a:latin typeface="Lucida Console" panose="020B0609040504020204" pitchFamily="49" charset="0"/>
              </a:rPr>
              <a:t>ggplot</a:t>
            </a:r>
            <a:r>
              <a:rPr lang="en-US" sz="1800" dirty="0">
                <a:latin typeface="Lucida Console" panose="020B0609040504020204" pitchFamily="49" charset="0"/>
              </a:rPr>
              <a:t>(</a:t>
            </a:r>
            <a:r>
              <a:rPr lang="en-US" sz="1800" dirty="0" err="1">
                <a:latin typeface="Lucida Console" panose="020B0609040504020204" pitchFamily="49" charset="0"/>
              </a:rPr>
              <a:t>mpg,aes</a:t>
            </a:r>
            <a:r>
              <a:rPr lang="en-US" sz="1800" dirty="0">
                <a:latin typeface="Lucida Console" panose="020B0609040504020204" pitchFamily="49" charset="0"/>
              </a:rPr>
              <a:t>(x=</a:t>
            </a:r>
            <a:r>
              <a:rPr lang="en-US" sz="1800" dirty="0" err="1">
                <a:latin typeface="Lucida Console" panose="020B0609040504020204" pitchFamily="49" charset="0"/>
              </a:rPr>
              <a:t>displ,y</a:t>
            </a:r>
            <a:r>
              <a:rPr lang="en-US" sz="1800" dirty="0">
                <a:latin typeface="Lucida Console" panose="020B0609040504020204" pitchFamily="49" charset="0"/>
              </a:rPr>
              <a:t>=</a:t>
            </a:r>
            <a:r>
              <a:rPr lang="en-US" sz="1800" dirty="0" err="1">
                <a:latin typeface="Lucida Console" panose="020B0609040504020204" pitchFamily="49" charset="0"/>
              </a:rPr>
              <a:t>hwy</a:t>
            </a:r>
            <a:r>
              <a:rPr lang="en-US" sz="1800" dirty="0">
                <a:latin typeface="Lucida Console" panose="020B0609040504020204" pitchFamily="49" charset="0"/>
              </a:rPr>
              <a:t>))</a:t>
            </a:r>
          </a:p>
          <a:p>
            <a:pPr marL="0" indent="0">
              <a:buNone/>
            </a:pPr>
            <a:r>
              <a:rPr lang="en-US" sz="1800" dirty="0">
                <a:latin typeface="Lucida Console" panose="020B0609040504020204" pitchFamily="49" charset="0"/>
              </a:rPr>
              <a:t> + </a:t>
            </a:r>
            <a:r>
              <a:rPr lang="en-US" sz="1800" dirty="0">
                <a:solidFill>
                  <a:srgbClr val="1A107E"/>
                </a:solidFill>
                <a:latin typeface="Lucida Console" panose="020B0609040504020204" pitchFamily="49" charset="0"/>
              </a:rPr>
              <a:t>geom_point</a:t>
            </a:r>
            <a:r>
              <a:rPr lang="en-US" sz="1800" dirty="0">
                <a:latin typeface="Lucida Console" panose="020B0609040504020204" pitchFamily="49" charset="0"/>
              </a:rPr>
              <a:t>(color="blue") </a:t>
            </a:r>
          </a:p>
          <a:p>
            <a:pPr marL="0" indent="0">
              <a:buNone/>
            </a:pPr>
            <a:r>
              <a:rPr lang="en-US" sz="1800" dirty="0">
                <a:latin typeface="Lucida Console" panose="020B0609040504020204" pitchFamily="49" charset="0"/>
              </a:rPr>
              <a:t> + </a:t>
            </a:r>
            <a:r>
              <a:rPr lang="en-US" sz="1800" dirty="0" err="1">
                <a:solidFill>
                  <a:srgbClr val="1A107E"/>
                </a:solidFill>
                <a:latin typeface="Lucida Console" panose="020B0609040504020204" pitchFamily="49" charset="0"/>
              </a:rPr>
              <a:t>geom_smooth</a:t>
            </a:r>
            <a:r>
              <a:rPr lang="en-US" sz="1800" dirty="0">
                <a:latin typeface="Lucida Console" panose="020B0609040504020204" pitchFamily="49" charset="0"/>
              </a:rPr>
              <a:t>(color="red")</a:t>
            </a:r>
          </a:p>
        </p:txBody>
      </p:sp>
      <p:pic>
        <p:nvPicPr>
          <p:cNvPr id="4" name="Picture 3">
            <a:extLst>
              <a:ext uri="{FF2B5EF4-FFF2-40B4-BE49-F238E27FC236}">
                <a16:creationId xmlns:a16="http://schemas.microsoft.com/office/drawing/2014/main" id="{294C979B-01D5-45C1-B6D6-858A8C0B025E}"/>
              </a:ext>
            </a:extLst>
          </p:cNvPr>
          <p:cNvPicPr>
            <a:picLocks noChangeAspect="1"/>
          </p:cNvPicPr>
          <p:nvPr/>
        </p:nvPicPr>
        <p:blipFill>
          <a:blip r:embed="rId2"/>
          <a:stretch>
            <a:fillRect/>
          </a:stretch>
        </p:blipFill>
        <p:spPr>
          <a:xfrm>
            <a:off x="5572126" y="3157538"/>
            <a:ext cx="5838824" cy="2919412"/>
          </a:xfrm>
          <a:prstGeom prst="rect">
            <a:avLst/>
          </a:prstGeom>
        </p:spPr>
      </p:pic>
    </p:spTree>
    <p:extLst>
      <p:ext uri="{BB962C8B-B14F-4D97-AF65-F5344CB8AC3E}">
        <p14:creationId xmlns:p14="http://schemas.microsoft.com/office/powerpoint/2010/main" val="3443225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3FEA2-7843-4F58-83D9-833F59003376}"/>
              </a:ext>
            </a:extLst>
          </p:cNvPr>
          <p:cNvSpPr>
            <a:spLocks noGrp="1"/>
          </p:cNvSpPr>
          <p:nvPr>
            <p:ph type="title"/>
          </p:nvPr>
        </p:nvSpPr>
        <p:spPr>
          <a:xfrm>
            <a:off x="838200" y="365126"/>
            <a:ext cx="10515600" cy="720724"/>
          </a:xfrm>
        </p:spPr>
        <p:txBody>
          <a:bodyPr>
            <a:normAutofit/>
          </a:bodyPr>
          <a:lstStyle/>
          <a:p>
            <a:pPr algn="ctr"/>
            <a:r>
              <a:rPr lang="en-US" sz="3800" dirty="0">
                <a:latin typeface="Arial" panose="020B0604020202020204" pitchFamily="34" charset="0"/>
                <a:cs typeface="Arial" panose="020B0604020202020204" pitchFamily="34" charset="0"/>
              </a:rPr>
              <a:t>Aesthetics and </a:t>
            </a:r>
            <a:r>
              <a:rPr lang="en-US" sz="3800" dirty="0" err="1">
                <a:latin typeface="Arial" panose="020B0604020202020204" pitchFamily="34" charset="0"/>
                <a:cs typeface="Arial" panose="020B0604020202020204" pitchFamily="34" charset="0"/>
              </a:rPr>
              <a:t>Geoms</a:t>
            </a:r>
            <a:r>
              <a:rPr lang="en-US" sz="3800" dirty="0">
                <a:latin typeface="Arial" panose="020B0604020202020204" pitchFamily="34" charset="0"/>
                <a:cs typeface="Arial" panose="020B0604020202020204" pitchFamily="34" charset="0"/>
              </a:rPr>
              <a:t> </a:t>
            </a:r>
            <a:endParaRPr lang="en-US" sz="3800" dirty="0"/>
          </a:p>
        </p:txBody>
      </p:sp>
      <p:sp>
        <p:nvSpPr>
          <p:cNvPr id="3" name="Content Placeholder 2">
            <a:extLst>
              <a:ext uri="{FF2B5EF4-FFF2-40B4-BE49-F238E27FC236}">
                <a16:creationId xmlns:a16="http://schemas.microsoft.com/office/drawing/2014/main" id="{0FEB9876-807F-4A4A-B23E-07DF010840F9}"/>
              </a:ext>
            </a:extLst>
          </p:cNvPr>
          <p:cNvSpPr>
            <a:spLocks noGrp="1"/>
          </p:cNvSpPr>
          <p:nvPr>
            <p:ph idx="1"/>
          </p:nvPr>
        </p:nvSpPr>
        <p:spPr>
          <a:xfrm>
            <a:off x="838200" y="1171576"/>
            <a:ext cx="10515600" cy="5524499"/>
          </a:xfrm>
        </p:spPr>
        <p:txBody>
          <a:bodyPr>
            <a:normAutofit/>
          </a:bodyPr>
          <a:lstStyle/>
          <a:p>
            <a:pPr marL="0" indent="0">
              <a:buNone/>
            </a:pPr>
            <a:r>
              <a:rPr lang="en-US" sz="1600" dirty="0">
                <a:latin typeface="Lucida Console" panose="020B0609040504020204" pitchFamily="49" charset="0"/>
              </a:rPr>
              <a:t>#left: color aesthetic passed to each geom layer</a:t>
            </a:r>
          </a:p>
          <a:p>
            <a:pPr marL="0" indent="0">
              <a:buNone/>
            </a:pPr>
            <a:r>
              <a:rPr lang="en-US" sz="1600" dirty="0" err="1">
                <a:solidFill>
                  <a:srgbClr val="1A107E"/>
                </a:solidFill>
                <a:latin typeface="Lucida Console" panose="020B0609040504020204" pitchFamily="49" charset="0"/>
              </a:rPr>
              <a:t>ggplot</a:t>
            </a:r>
            <a:r>
              <a:rPr lang="en-US" sz="1600" dirty="0">
                <a:latin typeface="Lucida Console" panose="020B0609040504020204" pitchFamily="49" charset="0"/>
              </a:rPr>
              <a:t>(mpg, aes(x=</a:t>
            </a:r>
            <a:r>
              <a:rPr lang="en-US" sz="1600" dirty="0" err="1">
                <a:latin typeface="Lucida Console" panose="020B0609040504020204" pitchFamily="49" charset="0"/>
              </a:rPr>
              <a:t>displ,y</a:t>
            </a:r>
            <a:r>
              <a:rPr lang="en-US" sz="1600" dirty="0">
                <a:latin typeface="Lucida Console" panose="020B0609040504020204" pitchFamily="49" charset="0"/>
              </a:rPr>
              <a:t>=</a:t>
            </a:r>
            <a:r>
              <a:rPr lang="en-US" sz="1600" dirty="0" err="1">
                <a:latin typeface="Lucida Console" panose="020B0609040504020204" pitchFamily="49" charset="0"/>
              </a:rPr>
              <a:t>hwy,color</a:t>
            </a:r>
            <a:r>
              <a:rPr lang="en-US" sz="1600" dirty="0">
                <a:latin typeface="Lucida Console" panose="020B0609040504020204" pitchFamily="49" charset="0"/>
              </a:rPr>
              <a:t>=class)) + </a:t>
            </a:r>
            <a:r>
              <a:rPr lang="en-US" sz="1600" dirty="0">
                <a:solidFill>
                  <a:srgbClr val="1A107E"/>
                </a:solidFill>
                <a:latin typeface="Lucida Console" panose="020B0609040504020204" pitchFamily="49" charset="0"/>
              </a:rPr>
              <a:t>geom_point</a:t>
            </a:r>
            <a:r>
              <a:rPr lang="en-US" sz="1600" dirty="0">
                <a:latin typeface="Lucida Console" panose="020B0609040504020204" pitchFamily="49" charset="0"/>
              </a:rPr>
              <a:t>() + </a:t>
            </a:r>
            <a:r>
              <a:rPr lang="en-US" sz="1600" dirty="0" err="1">
                <a:solidFill>
                  <a:srgbClr val="1A107E"/>
                </a:solidFill>
                <a:latin typeface="Lucida Console" panose="020B0609040504020204" pitchFamily="49" charset="0"/>
              </a:rPr>
              <a:t>geom_smooth</a:t>
            </a:r>
            <a:r>
              <a:rPr lang="en-US" sz="1600" dirty="0">
                <a:latin typeface="Lucida Console" panose="020B0609040504020204" pitchFamily="49" charset="0"/>
              </a:rPr>
              <a:t>(se=FALSE)</a:t>
            </a:r>
          </a:p>
          <a:p>
            <a:pPr marL="0" indent="0">
              <a:buNone/>
            </a:pPr>
            <a:endParaRPr lang="en-US" sz="1600" dirty="0">
              <a:latin typeface="Lucida Console" panose="020B0609040504020204" pitchFamily="49" charset="0"/>
            </a:endParaRPr>
          </a:p>
          <a:p>
            <a:pPr marL="0" indent="0">
              <a:buNone/>
            </a:pPr>
            <a:r>
              <a:rPr lang="en-US" sz="1600" dirty="0">
                <a:latin typeface="Lucida Console" panose="020B0609040504020204" pitchFamily="49" charset="0"/>
              </a:rPr>
              <a:t>#right: color aesthetic specified for only the geom_point layer</a:t>
            </a:r>
          </a:p>
          <a:p>
            <a:pPr marL="0" indent="0">
              <a:buNone/>
            </a:pPr>
            <a:r>
              <a:rPr lang="en-US" sz="1600" dirty="0" err="1">
                <a:solidFill>
                  <a:srgbClr val="1A107E"/>
                </a:solidFill>
                <a:latin typeface="Lucida Console" panose="020B0609040504020204" pitchFamily="49" charset="0"/>
              </a:rPr>
              <a:t>ggplot</a:t>
            </a:r>
            <a:r>
              <a:rPr lang="en-US" sz="1600" dirty="0">
                <a:latin typeface="Lucida Console" panose="020B0609040504020204" pitchFamily="49" charset="0"/>
              </a:rPr>
              <a:t>(</a:t>
            </a:r>
            <a:r>
              <a:rPr lang="en-US" sz="1600" dirty="0" err="1">
                <a:latin typeface="Lucida Console" panose="020B0609040504020204" pitchFamily="49" charset="0"/>
              </a:rPr>
              <a:t>mpg,aes</a:t>
            </a:r>
            <a:r>
              <a:rPr lang="en-US" sz="1600" dirty="0">
                <a:latin typeface="Lucida Console" panose="020B0609040504020204" pitchFamily="49" charset="0"/>
              </a:rPr>
              <a:t>(x=</a:t>
            </a:r>
            <a:r>
              <a:rPr lang="en-US" sz="1600" dirty="0" err="1">
                <a:latin typeface="Lucida Console" panose="020B0609040504020204" pitchFamily="49" charset="0"/>
              </a:rPr>
              <a:t>displ,y</a:t>
            </a:r>
            <a:r>
              <a:rPr lang="en-US" sz="1600" dirty="0">
                <a:latin typeface="Lucida Console" panose="020B0609040504020204" pitchFamily="49" charset="0"/>
              </a:rPr>
              <a:t>=</a:t>
            </a:r>
            <a:r>
              <a:rPr lang="en-US" sz="1600" dirty="0" err="1">
                <a:latin typeface="Lucida Console" panose="020B0609040504020204" pitchFamily="49" charset="0"/>
              </a:rPr>
              <a:t>hwy</a:t>
            </a:r>
            <a:r>
              <a:rPr lang="en-US" sz="1600" dirty="0">
                <a:latin typeface="Lucida Console" panose="020B0609040504020204" pitchFamily="49" charset="0"/>
              </a:rPr>
              <a:t>))+ </a:t>
            </a:r>
            <a:r>
              <a:rPr lang="en-US" sz="1600" dirty="0">
                <a:solidFill>
                  <a:srgbClr val="1A107E"/>
                </a:solidFill>
                <a:latin typeface="Lucida Console" panose="020B0609040504020204" pitchFamily="49" charset="0"/>
              </a:rPr>
              <a:t>geom_point</a:t>
            </a:r>
            <a:r>
              <a:rPr lang="en-US" sz="1600" dirty="0">
                <a:latin typeface="Lucida Console" panose="020B0609040504020204" pitchFamily="49" charset="0"/>
              </a:rPr>
              <a:t>(aes(color=class))+ </a:t>
            </a:r>
            <a:r>
              <a:rPr lang="en-US" sz="1600" dirty="0" err="1">
                <a:solidFill>
                  <a:srgbClr val="1A107E"/>
                </a:solidFill>
                <a:latin typeface="Lucida Console" panose="020B0609040504020204" pitchFamily="49" charset="0"/>
              </a:rPr>
              <a:t>geom_smooth</a:t>
            </a:r>
            <a:r>
              <a:rPr lang="en-US" sz="1600" dirty="0">
                <a:latin typeface="Lucida Console" panose="020B0609040504020204" pitchFamily="49" charset="0"/>
              </a:rPr>
              <a:t>(se=FALSE)</a:t>
            </a:r>
          </a:p>
        </p:txBody>
      </p:sp>
      <p:pic>
        <p:nvPicPr>
          <p:cNvPr id="8" name="Picture 7">
            <a:extLst>
              <a:ext uri="{FF2B5EF4-FFF2-40B4-BE49-F238E27FC236}">
                <a16:creationId xmlns:a16="http://schemas.microsoft.com/office/drawing/2014/main" id="{A26527D1-F405-4977-A5FA-81003B745070}"/>
              </a:ext>
            </a:extLst>
          </p:cNvPr>
          <p:cNvPicPr>
            <a:picLocks noChangeAspect="1"/>
          </p:cNvPicPr>
          <p:nvPr/>
        </p:nvPicPr>
        <p:blipFill>
          <a:blip r:embed="rId2"/>
          <a:stretch>
            <a:fillRect/>
          </a:stretch>
        </p:blipFill>
        <p:spPr>
          <a:xfrm>
            <a:off x="2295526" y="3140504"/>
            <a:ext cx="7491412" cy="3438095"/>
          </a:xfrm>
          <a:prstGeom prst="rect">
            <a:avLst/>
          </a:prstGeom>
        </p:spPr>
      </p:pic>
    </p:spTree>
    <p:extLst>
      <p:ext uri="{BB962C8B-B14F-4D97-AF65-F5344CB8AC3E}">
        <p14:creationId xmlns:p14="http://schemas.microsoft.com/office/powerpoint/2010/main" val="4221357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49C89-6331-48A6-90FA-3894559DD8AD}"/>
              </a:ext>
            </a:extLst>
          </p:cNvPr>
          <p:cNvSpPr>
            <a:spLocks noGrp="1"/>
          </p:cNvSpPr>
          <p:nvPr>
            <p:ph type="title"/>
          </p:nvPr>
        </p:nvSpPr>
        <p:spPr>
          <a:xfrm>
            <a:off x="838200" y="379413"/>
            <a:ext cx="10515600" cy="877888"/>
          </a:xfrm>
        </p:spPr>
        <p:txBody>
          <a:bodyPr>
            <a:normAutofit fontScale="90000"/>
          </a:bodyPr>
          <a:lstStyle/>
          <a:p>
            <a:pPr algn="ctr"/>
            <a:r>
              <a:rPr lang="en-US" sz="3800" dirty="0">
                <a:latin typeface="Arial" panose="020B0604020202020204" pitchFamily="34" charset="0"/>
                <a:cs typeface="Arial" panose="020B0604020202020204" pitchFamily="34" charset="0"/>
              </a:rPr>
              <a:t>Statistical Transformations</a:t>
            </a:r>
            <a:br>
              <a:rPr lang="en-US" dirty="0"/>
            </a:br>
            <a:endParaRPr lang="en-US" dirty="0"/>
          </a:p>
        </p:txBody>
      </p:sp>
      <p:sp>
        <p:nvSpPr>
          <p:cNvPr id="3" name="Content Placeholder 2">
            <a:extLst>
              <a:ext uri="{FF2B5EF4-FFF2-40B4-BE49-F238E27FC236}">
                <a16:creationId xmlns:a16="http://schemas.microsoft.com/office/drawing/2014/main" id="{B7F93DF2-90AA-40F6-B0A8-DBB16D0BD6AD}"/>
              </a:ext>
            </a:extLst>
          </p:cNvPr>
          <p:cNvSpPr>
            <a:spLocks noGrp="1"/>
          </p:cNvSpPr>
          <p:nvPr>
            <p:ph idx="1"/>
          </p:nvPr>
        </p:nvSpPr>
        <p:spPr>
          <a:xfrm>
            <a:off x="552449" y="847725"/>
            <a:ext cx="11396663" cy="5329238"/>
          </a:xfrm>
        </p:spPr>
        <p:txBody>
          <a:bodyPr>
            <a:normAutofit/>
          </a:bodyPr>
          <a:lstStyle/>
          <a:p>
            <a:endParaRPr lang="en-US" sz="1400" dirty="0"/>
          </a:p>
          <a:p>
            <a:pPr marL="0" indent="0">
              <a:buNone/>
            </a:pPr>
            <a:r>
              <a:rPr lang="en-US" sz="2000" dirty="0">
                <a:latin typeface="Arial" panose="020B0604020202020204" pitchFamily="34" charset="0"/>
                <a:cs typeface="Arial" panose="020B0604020202020204" pitchFamily="34" charset="0"/>
              </a:rPr>
              <a:t>The </a:t>
            </a:r>
            <a:r>
              <a:rPr lang="en-US" sz="2000" dirty="0" err="1">
                <a:latin typeface="Arial" panose="020B0604020202020204" pitchFamily="34" charset="0"/>
                <a:cs typeface="Arial" panose="020B0604020202020204" pitchFamily="34" charset="0"/>
              </a:rPr>
              <a:t>geom_bar</a:t>
            </a:r>
            <a:r>
              <a:rPr lang="en-US" sz="2000" dirty="0">
                <a:latin typeface="Arial" panose="020B0604020202020204" pitchFamily="34" charset="0"/>
                <a:cs typeface="Arial" panose="020B0604020202020204" pitchFamily="34" charset="0"/>
              </a:rPr>
              <a:t> automatically applies the </a:t>
            </a:r>
            <a:r>
              <a:rPr lang="en-US" sz="2000" dirty="0" err="1">
                <a:latin typeface="Arial" panose="020B0604020202020204" pitchFamily="34" charset="0"/>
                <a:cs typeface="Arial" panose="020B0604020202020204" pitchFamily="34" charset="0"/>
              </a:rPr>
              <a:t>stat_count</a:t>
            </a:r>
            <a:r>
              <a:rPr lang="en-US" sz="2000" dirty="0">
                <a:latin typeface="Arial" panose="020B0604020202020204" pitchFamily="34" charset="0"/>
                <a:cs typeface="Arial" panose="020B0604020202020204" pitchFamily="34" charset="0"/>
              </a:rPr>
              <a:t> transformation to the data (no count variable). This defines the y axis as the count of elements by type</a:t>
            </a:r>
          </a:p>
          <a:p>
            <a:pPr marL="0" indent="0">
              <a:buNone/>
            </a:pPr>
            <a:r>
              <a:rPr lang="en-US" sz="2000" dirty="0">
                <a:latin typeface="Arial" panose="020B0604020202020204" pitchFamily="34" charset="0"/>
                <a:cs typeface="Arial" panose="020B0604020202020204" pitchFamily="34" charset="0"/>
              </a:rPr>
              <a:t>The “identity” transformation leaves the data as is using stat = "identity" within </a:t>
            </a:r>
            <a:r>
              <a:rPr lang="en-US" sz="2000" dirty="0" err="1">
                <a:latin typeface="Arial" panose="020B0604020202020204" pitchFamily="34" charset="0"/>
                <a:cs typeface="Arial" panose="020B0604020202020204" pitchFamily="34" charset="0"/>
              </a:rPr>
              <a:t>geom_bar</a:t>
            </a:r>
            <a:r>
              <a:rPr lang="en-US" sz="2000" dirty="0">
                <a:latin typeface="Arial" panose="020B0604020202020204" pitchFamily="34" charset="0"/>
                <a:cs typeface="Arial" panose="020B0604020202020204" pitchFamily="34" charset="0"/>
              </a:rPr>
              <a:t> to plot bar height values to existing count variable (</a:t>
            </a:r>
            <a:r>
              <a:rPr lang="en-US" sz="2000" dirty="0" err="1">
                <a:latin typeface="Arial" panose="020B0604020202020204" pitchFamily="34" charset="0"/>
                <a:cs typeface="Arial" panose="020B0604020202020204" pitchFamily="34" charset="0"/>
              </a:rPr>
              <a:t>class_count</a:t>
            </a:r>
            <a:r>
              <a:rPr lang="en-US" sz="20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Note: </a:t>
            </a:r>
            <a:r>
              <a:rPr lang="en-US" sz="1600" dirty="0">
                <a:latin typeface="Arial" panose="020B0604020202020204" pitchFamily="34" charset="0"/>
                <a:cs typeface="Arial" panose="020B0604020202020204" pitchFamily="34" charset="0"/>
              </a:rPr>
              <a:t>include n for our y variable</a:t>
            </a:r>
          </a:p>
          <a:p>
            <a:pPr marL="0" indent="0">
              <a:buNone/>
            </a:pPr>
            <a:endParaRPr lang="en-US" sz="1400" dirty="0"/>
          </a:p>
          <a:p>
            <a:pPr marL="0" indent="0">
              <a:buNone/>
            </a:pPr>
            <a:endParaRPr lang="en-US" sz="1400" dirty="0"/>
          </a:p>
          <a:p>
            <a:pPr marL="0" indent="0">
              <a:buNone/>
            </a:pPr>
            <a:r>
              <a:rPr lang="en-US" sz="1600" dirty="0">
                <a:latin typeface="Lucida Console" panose="020B0609040504020204" pitchFamily="49" charset="0"/>
              </a:rPr>
              <a:t>#top plot</a:t>
            </a:r>
          </a:p>
          <a:p>
            <a:pPr marL="0" indent="0">
              <a:buNone/>
            </a:pPr>
            <a:r>
              <a:rPr lang="en-US" sz="1600" dirty="0" err="1">
                <a:solidFill>
                  <a:srgbClr val="1A107E"/>
                </a:solidFill>
                <a:latin typeface="Lucida Console" panose="020B0609040504020204" pitchFamily="49" charset="0"/>
              </a:rPr>
              <a:t>ggplot</a:t>
            </a:r>
            <a:r>
              <a:rPr lang="en-US" sz="1600" dirty="0">
                <a:latin typeface="Lucida Console" panose="020B0609040504020204" pitchFamily="49" charset="0"/>
              </a:rPr>
              <a:t>(</a:t>
            </a:r>
            <a:r>
              <a:rPr lang="en-US" sz="1600" dirty="0" err="1">
                <a:latin typeface="Lucida Console" panose="020B0609040504020204" pitchFamily="49" charset="0"/>
              </a:rPr>
              <a:t>mpg,aes</a:t>
            </a:r>
            <a:r>
              <a:rPr lang="en-US" sz="1600" dirty="0">
                <a:latin typeface="Lucida Console" panose="020B0609040504020204" pitchFamily="49" charset="0"/>
              </a:rPr>
              <a:t>(x=class))</a:t>
            </a:r>
          </a:p>
          <a:p>
            <a:pPr marL="0" indent="0">
              <a:buNone/>
            </a:pPr>
            <a:r>
              <a:rPr lang="en-US" sz="1600" dirty="0">
                <a:latin typeface="Lucida Console" panose="020B0609040504020204" pitchFamily="49" charset="0"/>
              </a:rPr>
              <a:t> + </a:t>
            </a:r>
            <a:r>
              <a:rPr lang="en-US" sz="1600" dirty="0" err="1">
                <a:solidFill>
                  <a:srgbClr val="1A107E"/>
                </a:solidFill>
                <a:latin typeface="Lucida Console" panose="020B0609040504020204" pitchFamily="49" charset="0"/>
              </a:rPr>
              <a:t>geom_bar</a:t>
            </a:r>
            <a:r>
              <a:rPr lang="en-US" sz="1600" dirty="0">
                <a:latin typeface="Lucida Console" panose="020B0609040504020204" pitchFamily="49" charset="0"/>
              </a:rPr>
              <a:t>()</a:t>
            </a:r>
          </a:p>
          <a:p>
            <a:pPr marL="0" indent="0">
              <a:buNone/>
            </a:pPr>
            <a:endParaRPr lang="en-US" sz="1600" dirty="0">
              <a:latin typeface="Lucida Console" panose="020B0609040504020204" pitchFamily="49" charset="0"/>
            </a:endParaRPr>
          </a:p>
          <a:p>
            <a:pPr marL="0" indent="0">
              <a:buNone/>
            </a:pPr>
            <a:r>
              <a:rPr lang="en-US" sz="1600" dirty="0">
                <a:latin typeface="Lucida Console" panose="020B0609040504020204" pitchFamily="49" charset="0"/>
              </a:rPr>
              <a:t>#bottom plot</a:t>
            </a:r>
          </a:p>
          <a:p>
            <a:pPr marL="0" indent="0">
              <a:buNone/>
            </a:pPr>
            <a:r>
              <a:rPr lang="en-US" sz="1600" dirty="0" err="1">
                <a:latin typeface="Lucida Console" panose="020B0609040504020204" pitchFamily="49" charset="0"/>
              </a:rPr>
              <a:t>class_count</a:t>
            </a:r>
            <a:r>
              <a:rPr lang="en-US" sz="1600" dirty="0">
                <a:latin typeface="Lucida Console" panose="020B0609040504020204" pitchFamily="49" charset="0"/>
              </a:rPr>
              <a:t>&lt;-</a:t>
            </a:r>
            <a:r>
              <a:rPr lang="en-US" sz="1600" dirty="0" err="1">
                <a:latin typeface="Lucida Console" panose="020B0609040504020204" pitchFamily="49" charset="0"/>
              </a:rPr>
              <a:t>dplyr</a:t>
            </a:r>
            <a:r>
              <a:rPr lang="en-US" sz="1600" dirty="0">
                <a:latin typeface="Lucida Console" panose="020B0609040504020204" pitchFamily="49" charset="0"/>
              </a:rPr>
              <a:t>::count(</a:t>
            </a:r>
            <a:r>
              <a:rPr lang="en-US" sz="1600" dirty="0" err="1">
                <a:latin typeface="Lucida Console" panose="020B0609040504020204" pitchFamily="49" charset="0"/>
              </a:rPr>
              <a:t>mpg,class</a:t>
            </a:r>
            <a:r>
              <a:rPr lang="en-US" sz="1600" dirty="0">
                <a:latin typeface="Lucida Console" panose="020B0609040504020204" pitchFamily="49" charset="0"/>
              </a:rPr>
              <a:t>)</a:t>
            </a:r>
          </a:p>
          <a:p>
            <a:pPr marL="0" indent="0">
              <a:buNone/>
            </a:pPr>
            <a:r>
              <a:rPr lang="en-US" sz="1600" dirty="0" err="1">
                <a:solidFill>
                  <a:srgbClr val="1A107E"/>
                </a:solidFill>
                <a:latin typeface="Lucida Console" panose="020B0609040504020204" pitchFamily="49" charset="0"/>
              </a:rPr>
              <a:t>ggplot</a:t>
            </a:r>
            <a:r>
              <a:rPr lang="en-US" sz="1600" dirty="0">
                <a:latin typeface="Lucida Console" panose="020B0609040504020204" pitchFamily="49" charset="0"/>
              </a:rPr>
              <a:t>(</a:t>
            </a:r>
            <a:r>
              <a:rPr lang="en-US" sz="1600" dirty="0" err="1">
                <a:latin typeface="Lucida Console" panose="020B0609040504020204" pitchFamily="49" charset="0"/>
              </a:rPr>
              <a:t>class_count,aes</a:t>
            </a:r>
            <a:r>
              <a:rPr lang="en-US" sz="1600" dirty="0">
                <a:latin typeface="Lucida Console" panose="020B0609040504020204" pitchFamily="49" charset="0"/>
              </a:rPr>
              <a:t>(x=</a:t>
            </a:r>
            <a:r>
              <a:rPr lang="en-US" sz="1600" dirty="0" err="1">
                <a:latin typeface="Lucida Console" panose="020B0609040504020204" pitchFamily="49" charset="0"/>
              </a:rPr>
              <a:t>class,y</a:t>
            </a:r>
            <a:r>
              <a:rPr lang="en-US" sz="1600" dirty="0">
                <a:latin typeface="Lucida Console" panose="020B0609040504020204" pitchFamily="49" charset="0"/>
              </a:rPr>
              <a:t>=n))</a:t>
            </a:r>
          </a:p>
          <a:p>
            <a:pPr marL="0" indent="0">
              <a:buNone/>
            </a:pPr>
            <a:r>
              <a:rPr lang="en-US" sz="1600" dirty="0">
                <a:latin typeface="Lucida Console" panose="020B0609040504020204" pitchFamily="49" charset="0"/>
              </a:rPr>
              <a:t>+ </a:t>
            </a:r>
            <a:r>
              <a:rPr lang="en-US" sz="1600" dirty="0" err="1">
                <a:solidFill>
                  <a:srgbClr val="1A107E"/>
                </a:solidFill>
                <a:latin typeface="Lucida Console" panose="020B0609040504020204" pitchFamily="49" charset="0"/>
              </a:rPr>
              <a:t>geom_bar</a:t>
            </a:r>
            <a:r>
              <a:rPr lang="en-US" sz="1600" dirty="0">
                <a:latin typeface="Lucida Console" panose="020B0609040504020204" pitchFamily="49" charset="0"/>
              </a:rPr>
              <a:t>(stat="identity")</a:t>
            </a:r>
          </a:p>
        </p:txBody>
      </p:sp>
      <p:pic>
        <p:nvPicPr>
          <p:cNvPr id="7" name="Picture 6">
            <a:extLst>
              <a:ext uri="{FF2B5EF4-FFF2-40B4-BE49-F238E27FC236}">
                <a16:creationId xmlns:a16="http://schemas.microsoft.com/office/drawing/2014/main" id="{6B99D32B-E331-4D6A-8140-AC28C4B9E22E}"/>
              </a:ext>
            </a:extLst>
          </p:cNvPr>
          <p:cNvPicPr>
            <a:picLocks noChangeAspect="1"/>
          </p:cNvPicPr>
          <p:nvPr/>
        </p:nvPicPr>
        <p:blipFill>
          <a:blip r:embed="rId2"/>
          <a:stretch>
            <a:fillRect/>
          </a:stretch>
        </p:blipFill>
        <p:spPr>
          <a:xfrm>
            <a:off x="5330715" y="2619568"/>
            <a:ext cx="6479932" cy="3557395"/>
          </a:xfrm>
          <a:prstGeom prst="rect">
            <a:avLst/>
          </a:prstGeom>
        </p:spPr>
      </p:pic>
    </p:spTree>
    <p:extLst>
      <p:ext uri="{BB962C8B-B14F-4D97-AF65-F5344CB8AC3E}">
        <p14:creationId xmlns:p14="http://schemas.microsoft.com/office/powerpoint/2010/main" val="37893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DACD2-4F40-4561-A513-69DDF770E67D}"/>
              </a:ext>
            </a:extLst>
          </p:cNvPr>
          <p:cNvSpPr>
            <a:spLocks noGrp="1"/>
          </p:cNvSpPr>
          <p:nvPr>
            <p:ph type="title"/>
          </p:nvPr>
        </p:nvSpPr>
        <p:spPr>
          <a:xfrm>
            <a:off x="838200" y="365126"/>
            <a:ext cx="10515600" cy="901700"/>
          </a:xfrm>
        </p:spPr>
        <p:txBody>
          <a:bodyPr>
            <a:normAutofit fontScale="90000"/>
          </a:bodyPr>
          <a:lstStyle/>
          <a:p>
            <a:pPr algn="ctr"/>
            <a:br>
              <a:rPr lang="en-US" sz="4000" dirty="0">
                <a:latin typeface="Arial" panose="020B0604020202020204" pitchFamily="34" charset="0"/>
                <a:cs typeface="Arial" panose="020B0604020202020204" pitchFamily="34" charset="0"/>
              </a:rPr>
            </a:br>
            <a:r>
              <a:rPr lang="en-US" sz="4000" dirty="0">
                <a:latin typeface="Arial" panose="020B0604020202020204" pitchFamily="34" charset="0"/>
                <a:cs typeface="Arial" panose="020B0604020202020204" pitchFamily="34" charset="0"/>
              </a:rPr>
              <a:t>Adding layers by calling </a:t>
            </a:r>
            <a:r>
              <a:rPr lang="en-US" sz="4000" dirty="0" err="1">
                <a:latin typeface="Arial" panose="020B0604020202020204" pitchFamily="34" charset="0"/>
                <a:cs typeface="Arial" panose="020B0604020202020204" pitchFamily="34" charset="0"/>
              </a:rPr>
              <a:t>stat_functions</a:t>
            </a:r>
            <a:r>
              <a:rPr lang="en-US" sz="4000" dirty="0">
                <a:latin typeface="Arial" panose="020B0604020202020204" pitchFamily="34" charset="0"/>
                <a:cs typeface="Arial" panose="020B0604020202020204" pitchFamily="34" charset="0"/>
              </a:rPr>
              <a:t> directly</a:t>
            </a:r>
            <a:br>
              <a:rPr lang="en-US" dirty="0"/>
            </a:br>
            <a:endParaRPr lang="en-US" dirty="0"/>
          </a:p>
        </p:txBody>
      </p:sp>
      <p:sp>
        <p:nvSpPr>
          <p:cNvPr id="5" name="Content Placeholder 4">
            <a:extLst>
              <a:ext uri="{FF2B5EF4-FFF2-40B4-BE49-F238E27FC236}">
                <a16:creationId xmlns:a16="http://schemas.microsoft.com/office/drawing/2014/main" id="{DBA2CF97-5847-4667-8316-4B0DDE848A31}"/>
              </a:ext>
            </a:extLst>
          </p:cNvPr>
          <p:cNvSpPr>
            <a:spLocks noGrp="1"/>
          </p:cNvSpPr>
          <p:nvPr>
            <p:ph idx="1"/>
          </p:nvPr>
        </p:nvSpPr>
        <p:spPr>
          <a:xfrm>
            <a:off x="404813" y="1014413"/>
            <a:ext cx="11344275" cy="5162550"/>
          </a:xfrm>
        </p:spPr>
        <p:txBody>
          <a:bodyPr>
            <a:normAutofit/>
          </a:bodyPr>
          <a:lstStyle/>
          <a:p>
            <a:pPr marL="0" indent="0">
              <a:buNone/>
            </a:pPr>
            <a:endParaRPr lang="en-US" sz="1600" dirty="0">
              <a:latin typeface="Arial" panose="020B0604020202020204" pitchFamily="34" charset="0"/>
              <a:cs typeface="Arial" panose="020B0604020202020204" pitchFamily="34" charset="0"/>
            </a:endParaRPr>
          </a:p>
          <a:p>
            <a:pPr marL="0" indent="0">
              <a:buNone/>
            </a:pPr>
            <a:r>
              <a:rPr lang="en-US" sz="2000" b="1" u="sng" dirty="0">
                <a:latin typeface="Arial" panose="020B0604020202020204" pitchFamily="34" charset="0"/>
                <a:cs typeface="Arial" panose="020B0604020202020204" pitchFamily="34" charset="0"/>
              </a:rPr>
              <a:t>Example</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Create a scatter plot of highway miles for each displacement value and apply </a:t>
            </a:r>
            <a:r>
              <a:rPr lang="en-US" sz="2000" dirty="0" err="1">
                <a:latin typeface="Arial" panose="020B0604020202020204" pitchFamily="34" charset="0"/>
                <a:cs typeface="Arial" panose="020B0604020202020204" pitchFamily="34" charset="0"/>
              </a:rPr>
              <a:t>stat_summary</a:t>
            </a:r>
            <a:r>
              <a:rPr lang="en-US" sz="2000" dirty="0">
                <a:latin typeface="Arial" panose="020B0604020202020204" pitchFamily="34" charset="0"/>
                <a:cs typeface="Arial" panose="020B0604020202020204" pitchFamily="34" charset="0"/>
              </a:rPr>
              <a:t> to plot mean highway miles at each displacement value. </a:t>
            </a:r>
          </a:p>
          <a:p>
            <a:pPr marL="457200" lvl="1" indent="0">
              <a:buNone/>
            </a:pPr>
            <a:endParaRPr lang="en-US" sz="1600" dirty="0">
              <a:latin typeface="Arial" panose="020B0604020202020204" pitchFamily="34" charset="0"/>
              <a:cs typeface="Arial" panose="020B0604020202020204" pitchFamily="34" charset="0"/>
            </a:endParaRPr>
          </a:p>
          <a:p>
            <a:pPr marL="457200" lvl="1" indent="0">
              <a:buNone/>
            </a:pPr>
            <a:endParaRPr lang="en-US" sz="1600" dirty="0">
              <a:latin typeface="Arial" panose="020B0604020202020204" pitchFamily="34" charset="0"/>
              <a:cs typeface="Arial" panose="020B0604020202020204" pitchFamily="34" charset="0"/>
            </a:endParaRPr>
          </a:p>
          <a:p>
            <a:pPr marL="0" indent="0">
              <a:buNone/>
            </a:pPr>
            <a:r>
              <a:rPr lang="en-US" sz="1800" dirty="0" err="1">
                <a:solidFill>
                  <a:srgbClr val="1A107E"/>
                </a:solidFill>
                <a:latin typeface="Lucida Console" panose="020B0609040504020204" pitchFamily="49" charset="0"/>
              </a:rPr>
              <a:t>ggplot</a:t>
            </a:r>
            <a:r>
              <a:rPr lang="en-US" sz="1800" dirty="0">
                <a:latin typeface="Lucida Console" panose="020B0609040504020204" pitchFamily="49" charset="0"/>
              </a:rPr>
              <a:t>(</a:t>
            </a:r>
            <a:r>
              <a:rPr lang="en-US" sz="1800" dirty="0" err="1">
                <a:latin typeface="Lucida Console" panose="020B0609040504020204" pitchFamily="49" charset="0"/>
              </a:rPr>
              <a:t>mpg,aes</a:t>
            </a:r>
            <a:r>
              <a:rPr lang="en-US" sz="1800" dirty="0">
                <a:latin typeface="Lucida Console" panose="020B0609040504020204" pitchFamily="49" charset="0"/>
              </a:rPr>
              <a:t>(</a:t>
            </a:r>
            <a:r>
              <a:rPr lang="en-US" sz="1800" dirty="0" err="1">
                <a:latin typeface="Lucida Console" panose="020B0609040504020204" pitchFamily="49" charset="0"/>
              </a:rPr>
              <a:t>displ,hwy</a:t>
            </a:r>
            <a:r>
              <a:rPr lang="en-US" sz="1800" dirty="0">
                <a:latin typeface="Lucida Console" panose="020B0609040504020204" pitchFamily="49" charset="0"/>
              </a:rPr>
              <a:t>))</a:t>
            </a:r>
          </a:p>
          <a:p>
            <a:pPr marL="0" indent="0">
              <a:buNone/>
            </a:pPr>
            <a:r>
              <a:rPr lang="en-US" sz="1800" dirty="0">
                <a:latin typeface="Lucida Console" panose="020B0609040504020204" pitchFamily="49" charset="0"/>
              </a:rPr>
              <a:t> + </a:t>
            </a:r>
            <a:r>
              <a:rPr lang="en-US" sz="1800" dirty="0">
                <a:solidFill>
                  <a:srgbClr val="1A107E"/>
                </a:solidFill>
                <a:latin typeface="Lucida Console" panose="020B0609040504020204" pitchFamily="49" charset="0"/>
              </a:rPr>
              <a:t>geom_point</a:t>
            </a:r>
            <a:r>
              <a:rPr lang="en-US" sz="1800" dirty="0">
                <a:latin typeface="Lucida Console" panose="020B0609040504020204" pitchFamily="49" charset="0"/>
              </a:rPr>
              <a:t>(color="grey") </a:t>
            </a:r>
          </a:p>
          <a:p>
            <a:pPr marL="0" indent="0">
              <a:buNone/>
            </a:pPr>
            <a:r>
              <a:rPr lang="en-US" sz="1800" dirty="0">
                <a:latin typeface="Lucida Console" panose="020B0609040504020204" pitchFamily="49" charset="0"/>
              </a:rPr>
              <a:t> + </a:t>
            </a:r>
            <a:r>
              <a:rPr lang="en-US" sz="1800" dirty="0" err="1">
                <a:solidFill>
                  <a:srgbClr val="1A107E"/>
                </a:solidFill>
                <a:latin typeface="Lucida Console" panose="020B0609040504020204" pitchFamily="49" charset="0"/>
              </a:rPr>
              <a:t>stat_summary</a:t>
            </a:r>
            <a:r>
              <a:rPr lang="en-US" sz="1800" dirty="0">
                <a:latin typeface="Lucida Console" panose="020B0609040504020204" pitchFamily="49" charset="0"/>
              </a:rPr>
              <a:t>(</a:t>
            </a:r>
            <a:r>
              <a:rPr lang="en-US" sz="1800" dirty="0" err="1">
                <a:latin typeface="Lucida Console" panose="020B0609040504020204" pitchFamily="49" charset="0"/>
              </a:rPr>
              <a:t>fun.y</a:t>
            </a:r>
            <a:r>
              <a:rPr lang="en-US" sz="1800" dirty="0">
                <a:latin typeface="Lucida Console" panose="020B0609040504020204" pitchFamily="49" charset="0"/>
              </a:rPr>
              <a:t> ="mean",</a:t>
            </a:r>
          </a:p>
          <a:p>
            <a:pPr marL="0" indent="0">
              <a:buNone/>
            </a:pPr>
            <a:r>
              <a:rPr lang="en-US" sz="1800" dirty="0">
                <a:latin typeface="Lucida Console" panose="020B0609040504020204" pitchFamily="49" charset="0"/>
              </a:rPr>
              <a:t>geom ="</a:t>
            </a:r>
            <a:r>
              <a:rPr lang="en-US" sz="1800" dirty="0" err="1">
                <a:latin typeface="Lucida Console" panose="020B0609040504020204" pitchFamily="49" charset="0"/>
              </a:rPr>
              <a:t>line",size</a:t>
            </a:r>
            <a:r>
              <a:rPr lang="en-US" sz="1800" dirty="0">
                <a:latin typeface="Lucida Console" panose="020B0609040504020204" pitchFamily="49" charset="0"/>
              </a:rPr>
              <a:t>=1,linetype="dashed")</a:t>
            </a:r>
          </a:p>
          <a:p>
            <a:endParaRPr lang="en-US" sz="1800" dirty="0"/>
          </a:p>
        </p:txBody>
      </p:sp>
      <p:pic>
        <p:nvPicPr>
          <p:cNvPr id="6" name="Picture 5">
            <a:extLst>
              <a:ext uri="{FF2B5EF4-FFF2-40B4-BE49-F238E27FC236}">
                <a16:creationId xmlns:a16="http://schemas.microsoft.com/office/drawing/2014/main" id="{486DFF0A-020A-4C6A-A5BE-800B7AC42F15}"/>
              </a:ext>
            </a:extLst>
          </p:cNvPr>
          <p:cNvPicPr>
            <a:picLocks noChangeAspect="1"/>
          </p:cNvPicPr>
          <p:nvPr/>
        </p:nvPicPr>
        <p:blipFill>
          <a:blip r:embed="rId2"/>
          <a:stretch>
            <a:fillRect/>
          </a:stretch>
        </p:blipFill>
        <p:spPr>
          <a:xfrm>
            <a:off x="5724526" y="2278857"/>
            <a:ext cx="5772150" cy="2886075"/>
          </a:xfrm>
          <a:prstGeom prst="rect">
            <a:avLst/>
          </a:prstGeom>
        </p:spPr>
      </p:pic>
    </p:spTree>
    <p:extLst>
      <p:ext uri="{BB962C8B-B14F-4D97-AF65-F5344CB8AC3E}">
        <p14:creationId xmlns:p14="http://schemas.microsoft.com/office/powerpoint/2010/main" val="1195038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27939-34D2-45BD-B52F-3E917151B295}"/>
              </a:ext>
            </a:extLst>
          </p:cNvPr>
          <p:cNvSpPr>
            <a:spLocks noGrp="1"/>
          </p:cNvSpPr>
          <p:nvPr>
            <p:ph type="title"/>
          </p:nvPr>
        </p:nvSpPr>
        <p:spPr>
          <a:xfrm>
            <a:off x="838200" y="365126"/>
            <a:ext cx="10515600" cy="844550"/>
          </a:xfrm>
        </p:spPr>
        <p:txBody>
          <a:bodyPr>
            <a:normAutofit fontScale="90000"/>
          </a:bodyPr>
          <a:lstStyle/>
          <a:p>
            <a:pPr algn="ctr"/>
            <a:br>
              <a:rPr lang="en-US" sz="3800" dirty="0">
                <a:latin typeface="Arial" panose="020B0604020202020204" pitchFamily="34" charset="0"/>
                <a:cs typeface="Arial" panose="020B0604020202020204" pitchFamily="34" charset="0"/>
              </a:rPr>
            </a:br>
            <a:r>
              <a:rPr lang="en-US" sz="3800" dirty="0">
                <a:latin typeface="Arial" panose="020B0604020202020204" pitchFamily="34" charset="0"/>
                <a:cs typeface="Arial" panose="020B0604020202020204" pitchFamily="34" charset="0"/>
              </a:rPr>
              <a:t>Facets</a:t>
            </a:r>
            <a:br>
              <a:rPr lang="en-US" dirty="0"/>
            </a:br>
            <a:endParaRPr lang="en-US" dirty="0"/>
          </a:p>
        </p:txBody>
      </p:sp>
      <p:sp>
        <p:nvSpPr>
          <p:cNvPr id="5" name="Content Placeholder 4">
            <a:extLst>
              <a:ext uri="{FF2B5EF4-FFF2-40B4-BE49-F238E27FC236}">
                <a16:creationId xmlns:a16="http://schemas.microsoft.com/office/drawing/2014/main" id="{739CBEA2-2DA2-4008-BEA7-0D3590A639B2}"/>
              </a:ext>
            </a:extLst>
          </p:cNvPr>
          <p:cNvSpPr>
            <a:spLocks noGrp="1"/>
          </p:cNvSpPr>
          <p:nvPr>
            <p:ph idx="1"/>
          </p:nvPr>
        </p:nvSpPr>
        <p:spPr>
          <a:xfrm>
            <a:off x="838200" y="1071563"/>
            <a:ext cx="10515600" cy="5138738"/>
          </a:xfrm>
        </p:spPr>
        <p:txBody>
          <a:bodyPr>
            <a:normAutofit/>
          </a:bodyPr>
          <a:lstStyle/>
          <a:p>
            <a:pPr marL="0" indent="0">
              <a:buNone/>
            </a:pPr>
            <a:r>
              <a:rPr lang="en-US" sz="2000" dirty="0">
                <a:latin typeface="Arial" panose="020B0604020202020204" pitchFamily="34" charset="0"/>
                <a:cs typeface="Arial" panose="020B0604020202020204" pitchFamily="34" charset="0"/>
              </a:rPr>
              <a:t>Facets are ways of grouping a plot into multiple different pieces (subplots) providing a separate plot for each value in a categorical variable. A plot with multiple facets can be created using the </a:t>
            </a:r>
            <a:r>
              <a:rPr lang="en-US" sz="2000" dirty="0" err="1">
                <a:latin typeface="Arial" panose="020B0604020202020204" pitchFamily="34" charset="0"/>
                <a:cs typeface="Arial" panose="020B0604020202020204" pitchFamily="34" charset="0"/>
              </a:rPr>
              <a:t>facet_wrap</a:t>
            </a:r>
            <a:r>
              <a:rPr lang="en-US" sz="2000" dirty="0">
                <a:latin typeface="Arial" panose="020B0604020202020204" pitchFamily="34" charset="0"/>
                <a:cs typeface="Arial" panose="020B0604020202020204" pitchFamily="34" charset="0"/>
              </a:rPr>
              <a:t>() function, producing a “row” of subplots, one for each categorical variable (specify number of rows with an additional argument).</a:t>
            </a:r>
          </a:p>
          <a:p>
            <a:pPr marL="0" indent="0">
              <a:buNone/>
            </a:pPr>
            <a:endParaRPr lang="en-US" sz="1800" dirty="0">
              <a:solidFill>
                <a:srgbClr val="1A107E"/>
              </a:solidFill>
              <a:latin typeface="Lucida Console" panose="020B0609040504020204" pitchFamily="49" charset="0"/>
            </a:endParaRPr>
          </a:p>
          <a:p>
            <a:pPr marL="0" indent="0">
              <a:buNone/>
            </a:pPr>
            <a:r>
              <a:rPr lang="en-US" sz="1800" dirty="0">
                <a:solidFill>
                  <a:srgbClr val="1A107E"/>
                </a:solidFill>
                <a:latin typeface="Lucida Console" panose="020B0609040504020204" pitchFamily="49" charset="0"/>
              </a:rPr>
              <a:t>   </a:t>
            </a:r>
            <a:r>
              <a:rPr lang="en-US" sz="1800" dirty="0" err="1">
                <a:solidFill>
                  <a:srgbClr val="1A107E"/>
                </a:solidFill>
                <a:latin typeface="Lucida Console" panose="020B0609040504020204" pitchFamily="49" charset="0"/>
              </a:rPr>
              <a:t>ggplot</a:t>
            </a:r>
            <a:r>
              <a:rPr lang="en-US" sz="1800" dirty="0">
                <a:latin typeface="Lucida Console" panose="020B0609040504020204" pitchFamily="49" charset="0"/>
              </a:rPr>
              <a:t>(</a:t>
            </a:r>
            <a:r>
              <a:rPr lang="en-US" sz="1800" dirty="0" err="1">
                <a:latin typeface="Lucida Console" panose="020B0609040504020204" pitchFamily="49" charset="0"/>
              </a:rPr>
              <a:t>mpg,aes</a:t>
            </a:r>
            <a:r>
              <a:rPr lang="en-US" sz="1800" dirty="0">
                <a:latin typeface="Lucida Console" panose="020B0609040504020204" pitchFamily="49" charset="0"/>
              </a:rPr>
              <a:t>(x=</a:t>
            </a:r>
            <a:r>
              <a:rPr lang="en-US" sz="1800" dirty="0" err="1">
                <a:latin typeface="Lucida Console" panose="020B0609040504020204" pitchFamily="49" charset="0"/>
              </a:rPr>
              <a:t>displ,y</a:t>
            </a:r>
            <a:r>
              <a:rPr lang="en-US" sz="1800" dirty="0">
                <a:latin typeface="Lucida Console" panose="020B0609040504020204" pitchFamily="49" charset="0"/>
              </a:rPr>
              <a:t>=</a:t>
            </a:r>
            <a:r>
              <a:rPr lang="en-US" sz="1800" dirty="0" err="1">
                <a:latin typeface="Lucida Console" panose="020B0609040504020204" pitchFamily="49" charset="0"/>
              </a:rPr>
              <a:t>hwy</a:t>
            </a:r>
            <a:r>
              <a:rPr lang="en-US" sz="1800" dirty="0">
                <a:latin typeface="Lucida Console" panose="020B0609040504020204" pitchFamily="49" charset="0"/>
              </a:rPr>
              <a:t>)) + </a:t>
            </a:r>
            <a:r>
              <a:rPr lang="en-US" sz="1800" dirty="0">
                <a:solidFill>
                  <a:srgbClr val="1A107E"/>
                </a:solidFill>
                <a:latin typeface="Lucida Console" panose="020B0609040504020204" pitchFamily="49" charset="0"/>
              </a:rPr>
              <a:t>geom_point</a:t>
            </a:r>
            <a:r>
              <a:rPr lang="en-US" sz="1800" dirty="0">
                <a:latin typeface="Lucida Console" panose="020B0609040504020204" pitchFamily="49" charset="0"/>
              </a:rPr>
              <a:t>()+ </a:t>
            </a:r>
            <a:r>
              <a:rPr lang="en-US" sz="1800" dirty="0" err="1">
                <a:solidFill>
                  <a:srgbClr val="1A107E"/>
                </a:solidFill>
                <a:latin typeface="Lucida Console" panose="020B0609040504020204" pitchFamily="49" charset="0"/>
              </a:rPr>
              <a:t>facet_grid</a:t>
            </a:r>
            <a:r>
              <a:rPr lang="en-US" sz="1800" dirty="0">
                <a:latin typeface="Lucida Console" panose="020B0609040504020204" pitchFamily="49" charset="0"/>
              </a:rPr>
              <a:t>(~ class)</a:t>
            </a:r>
          </a:p>
        </p:txBody>
      </p:sp>
      <p:pic>
        <p:nvPicPr>
          <p:cNvPr id="7" name="Picture 6">
            <a:extLst>
              <a:ext uri="{FF2B5EF4-FFF2-40B4-BE49-F238E27FC236}">
                <a16:creationId xmlns:a16="http://schemas.microsoft.com/office/drawing/2014/main" id="{42E0E51B-6A8C-426F-B431-AA3FC83AE749}"/>
              </a:ext>
            </a:extLst>
          </p:cNvPr>
          <p:cNvPicPr>
            <a:picLocks noChangeAspect="1"/>
          </p:cNvPicPr>
          <p:nvPr/>
        </p:nvPicPr>
        <p:blipFill>
          <a:blip r:embed="rId2"/>
          <a:stretch>
            <a:fillRect/>
          </a:stretch>
        </p:blipFill>
        <p:spPr>
          <a:xfrm>
            <a:off x="1785937" y="3219451"/>
            <a:ext cx="8229600" cy="2743200"/>
          </a:xfrm>
          <a:prstGeom prst="rect">
            <a:avLst/>
          </a:prstGeom>
        </p:spPr>
      </p:pic>
    </p:spTree>
    <p:extLst>
      <p:ext uri="{BB962C8B-B14F-4D97-AF65-F5344CB8AC3E}">
        <p14:creationId xmlns:p14="http://schemas.microsoft.com/office/powerpoint/2010/main" val="1194289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838B8E4-C0F6-4D46-A752-B25FB8936011}"/>
              </a:ext>
            </a:extLst>
          </p:cNvPr>
          <p:cNvSpPr>
            <a:spLocks noGrp="1"/>
          </p:cNvSpPr>
          <p:nvPr>
            <p:ph type="title"/>
          </p:nvPr>
        </p:nvSpPr>
        <p:spPr>
          <a:xfrm>
            <a:off x="838200" y="365126"/>
            <a:ext cx="10515600" cy="1106488"/>
          </a:xfrm>
        </p:spPr>
        <p:txBody>
          <a:bodyPr>
            <a:normAutofit/>
          </a:bodyPr>
          <a:lstStyle/>
          <a:p>
            <a:pPr algn="ctr"/>
            <a:r>
              <a:rPr lang="en-US" sz="3800" dirty="0">
                <a:latin typeface="Arial" panose="020B0604020202020204" pitchFamily="34" charset="0"/>
                <a:cs typeface="Arial" panose="020B0604020202020204" pitchFamily="34" charset="0"/>
              </a:rPr>
              <a:t>Facets</a:t>
            </a:r>
          </a:p>
        </p:txBody>
      </p:sp>
      <p:sp>
        <p:nvSpPr>
          <p:cNvPr id="6" name="Content Placeholder 5">
            <a:extLst>
              <a:ext uri="{FF2B5EF4-FFF2-40B4-BE49-F238E27FC236}">
                <a16:creationId xmlns:a16="http://schemas.microsoft.com/office/drawing/2014/main" id="{DB6D13E8-9714-4238-99D8-120953736CBF}"/>
              </a:ext>
            </a:extLst>
          </p:cNvPr>
          <p:cNvSpPr>
            <a:spLocks noGrp="1"/>
          </p:cNvSpPr>
          <p:nvPr>
            <p:ph idx="1"/>
          </p:nvPr>
        </p:nvSpPr>
        <p:spPr>
          <a:xfrm>
            <a:off x="719138" y="1181100"/>
            <a:ext cx="10844212" cy="4995863"/>
          </a:xfrm>
        </p:spPr>
        <p:txBody>
          <a:bodyPr/>
          <a:lstStyle/>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The </a:t>
            </a:r>
            <a:r>
              <a:rPr lang="en-US" sz="2000" dirty="0" err="1">
                <a:latin typeface="Arial" panose="020B0604020202020204" pitchFamily="34" charset="0"/>
                <a:cs typeface="Arial" panose="020B0604020202020204" pitchFamily="34" charset="0"/>
              </a:rPr>
              <a:t>facet_grid</a:t>
            </a:r>
            <a:r>
              <a:rPr lang="en-US" sz="2000" dirty="0">
                <a:latin typeface="Arial" panose="020B0604020202020204" pitchFamily="34" charset="0"/>
                <a:cs typeface="Arial" panose="020B0604020202020204" pitchFamily="34" charset="0"/>
              </a:rPr>
              <a:t>() function can be used to facet data by more than one categorical variable, the variable to the left of the tilde is represented in the rows (year) and the variable to the right (</a:t>
            </a:r>
            <a:r>
              <a:rPr lang="en-US" sz="2000" dirty="0" err="1">
                <a:latin typeface="Arial" panose="020B0604020202020204" pitchFamily="34" charset="0"/>
                <a:cs typeface="Arial" panose="020B0604020202020204" pitchFamily="34" charset="0"/>
              </a:rPr>
              <a:t>cyl</a:t>
            </a:r>
            <a:r>
              <a:rPr lang="en-US" sz="2000" dirty="0">
                <a:latin typeface="Arial" panose="020B0604020202020204" pitchFamily="34" charset="0"/>
                <a:cs typeface="Arial" panose="020B0604020202020204" pitchFamily="34" charset="0"/>
              </a:rPr>
              <a:t>) is represented across the columns. </a:t>
            </a:r>
          </a:p>
          <a:p>
            <a:pPr marL="0" indent="0">
              <a:buNone/>
            </a:pPr>
            <a:r>
              <a:rPr lang="en-US" sz="1600" b="1" dirty="0">
                <a:latin typeface="Arial" panose="020B0604020202020204" pitchFamily="34" charset="0"/>
                <a:cs typeface="Arial" panose="020B0604020202020204" pitchFamily="34" charset="0"/>
              </a:rPr>
              <a:t>Note: </a:t>
            </a:r>
            <a:r>
              <a:rPr lang="en-US" sz="1600" dirty="0">
                <a:latin typeface="Arial" panose="020B0604020202020204" pitchFamily="34" charset="0"/>
                <a:cs typeface="Arial" panose="020B0604020202020204" pitchFamily="34" charset="0"/>
              </a:rPr>
              <a:t>use tilde (~) in our facet functions. </a:t>
            </a:r>
          </a:p>
          <a:p>
            <a:pPr marL="457200" lvl="1" indent="0">
              <a:buNone/>
            </a:pPr>
            <a:endParaRPr lang="en-US" sz="1600" dirty="0">
              <a:latin typeface="Arial" panose="020B0604020202020204" pitchFamily="34" charset="0"/>
              <a:cs typeface="Arial" panose="020B0604020202020204" pitchFamily="34" charset="0"/>
            </a:endParaRPr>
          </a:p>
          <a:p>
            <a:pPr marL="457200" lvl="1" indent="0">
              <a:buNone/>
            </a:pPr>
            <a:endParaRPr lang="en-US" sz="1600" dirty="0">
              <a:latin typeface="Arial" panose="020B0604020202020204" pitchFamily="34" charset="0"/>
              <a:cs typeface="Arial" panose="020B0604020202020204" pitchFamily="34" charset="0"/>
            </a:endParaRPr>
          </a:p>
          <a:p>
            <a:pPr marL="0" indent="0">
              <a:buNone/>
            </a:pPr>
            <a:r>
              <a:rPr lang="en-US" sz="1800" dirty="0" err="1">
                <a:solidFill>
                  <a:srgbClr val="1A107E"/>
                </a:solidFill>
                <a:latin typeface="Lucida Console" panose="020B0609040504020204" pitchFamily="49" charset="0"/>
              </a:rPr>
              <a:t>ggplot</a:t>
            </a:r>
            <a:r>
              <a:rPr lang="en-US" sz="1800" dirty="0">
                <a:latin typeface="Lucida Console" panose="020B0609040504020204" pitchFamily="49" charset="0"/>
              </a:rPr>
              <a:t>(</a:t>
            </a:r>
            <a:r>
              <a:rPr lang="en-US" sz="1800" dirty="0" err="1">
                <a:latin typeface="Lucida Console" panose="020B0609040504020204" pitchFamily="49" charset="0"/>
              </a:rPr>
              <a:t>mpg,aes</a:t>
            </a:r>
            <a:r>
              <a:rPr lang="en-US" sz="1800" dirty="0">
                <a:latin typeface="Lucida Console" panose="020B0609040504020204" pitchFamily="49" charset="0"/>
              </a:rPr>
              <a:t>(x=</a:t>
            </a:r>
            <a:r>
              <a:rPr lang="en-US" sz="1800" dirty="0" err="1">
                <a:latin typeface="Lucida Console" panose="020B0609040504020204" pitchFamily="49" charset="0"/>
              </a:rPr>
              <a:t>displ,y</a:t>
            </a:r>
            <a:r>
              <a:rPr lang="en-US" sz="1800" dirty="0">
                <a:latin typeface="Lucida Console" panose="020B0609040504020204" pitchFamily="49" charset="0"/>
              </a:rPr>
              <a:t>=</a:t>
            </a:r>
            <a:r>
              <a:rPr lang="en-US" sz="1800" dirty="0" err="1">
                <a:latin typeface="Lucida Console" panose="020B0609040504020204" pitchFamily="49" charset="0"/>
              </a:rPr>
              <a:t>hwy</a:t>
            </a:r>
            <a:r>
              <a:rPr lang="en-US" sz="1800" dirty="0">
                <a:latin typeface="Lucida Console" panose="020B0609040504020204" pitchFamily="49" charset="0"/>
              </a:rPr>
              <a:t>)) </a:t>
            </a:r>
          </a:p>
          <a:p>
            <a:pPr marL="0" indent="0">
              <a:buNone/>
            </a:pPr>
            <a:r>
              <a:rPr lang="en-US" sz="1800" dirty="0">
                <a:latin typeface="Lucida Console" panose="020B0609040504020204" pitchFamily="49" charset="0"/>
              </a:rPr>
              <a:t> + </a:t>
            </a:r>
            <a:r>
              <a:rPr lang="en-US" sz="1800" dirty="0">
                <a:solidFill>
                  <a:srgbClr val="1A107E"/>
                </a:solidFill>
                <a:latin typeface="Lucida Console" panose="020B0609040504020204" pitchFamily="49" charset="0"/>
              </a:rPr>
              <a:t>geom_point</a:t>
            </a:r>
            <a:r>
              <a:rPr lang="en-US" sz="1800" dirty="0">
                <a:latin typeface="Lucida Console" panose="020B0609040504020204" pitchFamily="49" charset="0"/>
              </a:rPr>
              <a:t>() </a:t>
            </a:r>
          </a:p>
          <a:p>
            <a:pPr marL="0" indent="0">
              <a:buNone/>
            </a:pPr>
            <a:r>
              <a:rPr lang="en-US" sz="1800" dirty="0">
                <a:latin typeface="Lucida Console" panose="020B0609040504020204" pitchFamily="49" charset="0"/>
              </a:rPr>
              <a:t> +</a:t>
            </a:r>
            <a:r>
              <a:rPr lang="en-US" sz="1800" dirty="0" err="1">
                <a:solidFill>
                  <a:srgbClr val="1A107E"/>
                </a:solidFill>
                <a:latin typeface="Lucida Console" panose="020B0609040504020204" pitchFamily="49" charset="0"/>
              </a:rPr>
              <a:t>facet_grid</a:t>
            </a:r>
            <a:r>
              <a:rPr lang="en-US" sz="1800" dirty="0">
                <a:latin typeface="Lucida Console" panose="020B0609040504020204" pitchFamily="49" charset="0"/>
              </a:rPr>
              <a:t>(</a:t>
            </a:r>
            <a:r>
              <a:rPr lang="en-US" sz="1800" dirty="0" err="1">
                <a:latin typeface="Lucida Console" panose="020B0609040504020204" pitchFamily="49" charset="0"/>
              </a:rPr>
              <a:t>year~cyl</a:t>
            </a:r>
            <a:r>
              <a:rPr lang="en-US" sz="1800" dirty="0">
                <a:latin typeface="Lucida Console" panose="020B0609040504020204" pitchFamily="49" charset="0"/>
              </a:rPr>
              <a:t>)</a:t>
            </a:r>
          </a:p>
          <a:p>
            <a:pPr marL="0" indent="0">
              <a:buNone/>
            </a:pPr>
            <a:endParaRPr lang="en-US" sz="1500" dirty="0">
              <a:latin typeface="Lucida Console" panose="020B0609040504020204" pitchFamily="49" charset="0"/>
            </a:endParaRPr>
          </a:p>
        </p:txBody>
      </p:sp>
      <p:pic>
        <p:nvPicPr>
          <p:cNvPr id="8" name="Picture 7">
            <a:extLst>
              <a:ext uri="{FF2B5EF4-FFF2-40B4-BE49-F238E27FC236}">
                <a16:creationId xmlns:a16="http://schemas.microsoft.com/office/drawing/2014/main" id="{5BC52233-0CFA-448F-9B44-B9740C60A48D}"/>
              </a:ext>
            </a:extLst>
          </p:cNvPr>
          <p:cNvPicPr>
            <a:picLocks noChangeAspect="1"/>
          </p:cNvPicPr>
          <p:nvPr/>
        </p:nvPicPr>
        <p:blipFill>
          <a:blip r:embed="rId2"/>
          <a:stretch>
            <a:fillRect/>
          </a:stretch>
        </p:blipFill>
        <p:spPr>
          <a:xfrm>
            <a:off x="5372100" y="2606676"/>
            <a:ext cx="6100762" cy="3532187"/>
          </a:xfrm>
          <a:prstGeom prst="rect">
            <a:avLst/>
          </a:prstGeom>
        </p:spPr>
      </p:pic>
    </p:spTree>
    <p:extLst>
      <p:ext uri="{BB962C8B-B14F-4D97-AF65-F5344CB8AC3E}">
        <p14:creationId xmlns:p14="http://schemas.microsoft.com/office/powerpoint/2010/main" val="458376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9C58D-3377-4EEF-9696-CDF607574226}"/>
              </a:ext>
            </a:extLst>
          </p:cNvPr>
          <p:cNvSpPr>
            <a:spLocks noGrp="1"/>
          </p:cNvSpPr>
          <p:nvPr>
            <p:ph type="title"/>
          </p:nvPr>
        </p:nvSpPr>
        <p:spPr>
          <a:xfrm>
            <a:off x="838200" y="365126"/>
            <a:ext cx="10515600" cy="768350"/>
          </a:xfrm>
        </p:spPr>
        <p:txBody>
          <a:bodyPr>
            <a:normAutofit fontScale="90000"/>
          </a:bodyPr>
          <a:lstStyle/>
          <a:p>
            <a:pPr algn="ctr"/>
            <a:br>
              <a:rPr lang="en-US" sz="4200" dirty="0">
                <a:latin typeface="Arial" panose="020B0604020202020204" pitchFamily="34" charset="0"/>
                <a:cs typeface="Arial" panose="020B0604020202020204" pitchFamily="34" charset="0"/>
              </a:rPr>
            </a:br>
            <a:r>
              <a:rPr lang="en-US" sz="4200" dirty="0">
                <a:latin typeface="Arial" panose="020B0604020202020204" pitchFamily="34" charset="0"/>
                <a:cs typeface="Arial" panose="020B0604020202020204" pitchFamily="34" charset="0"/>
              </a:rPr>
              <a:t>Labels &amp; Annotations</a:t>
            </a:r>
            <a:br>
              <a:rPr lang="en-US" dirty="0"/>
            </a:br>
            <a:endParaRPr lang="en-US" dirty="0"/>
          </a:p>
        </p:txBody>
      </p:sp>
      <p:sp>
        <p:nvSpPr>
          <p:cNvPr id="3" name="Content Placeholder 2">
            <a:extLst>
              <a:ext uri="{FF2B5EF4-FFF2-40B4-BE49-F238E27FC236}">
                <a16:creationId xmlns:a16="http://schemas.microsoft.com/office/drawing/2014/main" id="{7DD7E55B-A027-4D21-885E-FA92D302D41D}"/>
              </a:ext>
            </a:extLst>
          </p:cNvPr>
          <p:cNvSpPr>
            <a:spLocks noGrp="1"/>
          </p:cNvSpPr>
          <p:nvPr>
            <p:ph idx="1"/>
          </p:nvPr>
        </p:nvSpPr>
        <p:spPr>
          <a:xfrm>
            <a:off x="357188" y="1133475"/>
            <a:ext cx="11334750" cy="5124449"/>
          </a:xfrm>
        </p:spPr>
        <p:txBody>
          <a:bodyPr/>
          <a:lstStyle/>
          <a:p>
            <a:pPr marL="0" indent="0">
              <a:buNone/>
            </a:pPr>
            <a:endParaRPr lang="en-US" sz="1000" dirty="0">
              <a:latin typeface="Lucida Console" panose="020B0609040504020204" pitchFamily="49" charset="0"/>
            </a:endParaRPr>
          </a:p>
          <a:p>
            <a:pPr marL="0" indent="0">
              <a:buNone/>
            </a:pPr>
            <a:r>
              <a:rPr lang="en-US" sz="2000" dirty="0">
                <a:latin typeface="Arial" panose="020B0604020202020204" pitchFamily="34" charset="0"/>
                <a:cs typeface="Arial" panose="020B0604020202020204" pitchFamily="34" charset="0"/>
              </a:rPr>
              <a:t>Text labels and annotations (on the plot, axes, geometry, and legend) make a plot understandable and help communicate information. This functionality can be easily added to plots with ggplot2 using the labs() function.</a:t>
            </a:r>
          </a:p>
          <a:p>
            <a:pPr marL="0" indent="0">
              <a:buNone/>
            </a:pPr>
            <a:endParaRPr lang="en-US" sz="1000" dirty="0">
              <a:latin typeface="Lucida Console" panose="020B0609040504020204" pitchFamily="49" charset="0"/>
            </a:endParaRPr>
          </a:p>
          <a:p>
            <a:pPr marL="0" indent="0">
              <a:buNone/>
            </a:pPr>
            <a:endParaRPr lang="en-US" sz="1600" dirty="0">
              <a:solidFill>
                <a:srgbClr val="1A107E"/>
              </a:solidFill>
              <a:latin typeface="Lucida Console" panose="020B0609040504020204" pitchFamily="49" charset="0"/>
            </a:endParaRPr>
          </a:p>
          <a:p>
            <a:pPr marL="0" indent="0">
              <a:buNone/>
            </a:pPr>
            <a:r>
              <a:rPr lang="en-US" sz="1600" dirty="0" err="1">
                <a:solidFill>
                  <a:srgbClr val="1A107E"/>
                </a:solidFill>
                <a:latin typeface="Lucida Console" panose="020B0609040504020204" pitchFamily="49" charset="0"/>
              </a:rPr>
              <a:t>ggplot</a:t>
            </a:r>
            <a:r>
              <a:rPr lang="en-US" sz="1600" dirty="0">
                <a:latin typeface="Lucida Console" panose="020B0609040504020204" pitchFamily="49" charset="0"/>
              </a:rPr>
              <a:t>(</a:t>
            </a:r>
            <a:r>
              <a:rPr lang="en-US" sz="1600" dirty="0" err="1">
                <a:latin typeface="Lucida Console" panose="020B0609040504020204" pitchFamily="49" charset="0"/>
              </a:rPr>
              <a:t>mpg,aes</a:t>
            </a:r>
            <a:r>
              <a:rPr lang="en-US" sz="1600" dirty="0">
                <a:latin typeface="Lucida Console" panose="020B0609040504020204" pitchFamily="49" charset="0"/>
              </a:rPr>
              <a:t>(x=</a:t>
            </a:r>
            <a:r>
              <a:rPr lang="en-US" sz="1600" dirty="0" err="1">
                <a:latin typeface="Lucida Console" panose="020B0609040504020204" pitchFamily="49" charset="0"/>
              </a:rPr>
              <a:t>displ,y</a:t>
            </a:r>
            <a:r>
              <a:rPr lang="en-US" sz="1600" dirty="0">
                <a:latin typeface="Lucida Console" panose="020B0609040504020204" pitchFamily="49" charset="0"/>
              </a:rPr>
              <a:t>=</a:t>
            </a:r>
            <a:r>
              <a:rPr lang="en-US" sz="1600" dirty="0" err="1">
                <a:latin typeface="Lucida Console" panose="020B0609040504020204" pitchFamily="49" charset="0"/>
              </a:rPr>
              <a:t>hwy,color</a:t>
            </a:r>
            <a:r>
              <a:rPr lang="en-US" sz="1600" dirty="0">
                <a:latin typeface="Lucida Console" panose="020B0609040504020204" pitchFamily="49" charset="0"/>
              </a:rPr>
              <a:t>=class))</a:t>
            </a:r>
          </a:p>
          <a:p>
            <a:pPr marL="0" indent="0">
              <a:buNone/>
            </a:pPr>
            <a:r>
              <a:rPr lang="en-US" sz="1600" dirty="0">
                <a:latin typeface="Lucida Console" panose="020B0609040504020204" pitchFamily="49" charset="0"/>
              </a:rPr>
              <a:t> + </a:t>
            </a:r>
            <a:r>
              <a:rPr lang="en-US" sz="1600" dirty="0">
                <a:solidFill>
                  <a:srgbClr val="1A107E"/>
                </a:solidFill>
                <a:latin typeface="Lucida Console" panose="020B0609040504020204" pitchFamily="49" charset="0"/>
              </a:rPr>
              <a:t>geom_point</a:t>
            </a:r>
            <a:r>
              <a:rPr lang="en-US" sz="1600" dirty="0">
                <a:latin typeface="Lucida Console" panose="020B0609040504020204" pitchFamily="49" charset="0"/>
              </a:rPr>
              <a:t>() </a:t>
            </a:r>
          </a:p>
          <a:p>
            <a:pPr marL="0" indent="0">
              <a:buNone/>
            </a:pPr>
            <a:r>
              <a:rPr lang="en-US" sz="1600" dirty="0">
                <a:latin typeface="Lucida Console" panose="020B0609040504020204" pitchFamily="49" charset="0"/>
              </a:rPr>
              <a:t> + labs(title="Fuel Efficiency by Engine Power",</a:t>
            </a:r>
          </a:p>
          <a:p>
            <a:pPr marL="0" indent="0">
              <a:buNone/>
            </a:pPr>
            <a:r>
              <a:rPr lang="en-US" sz="1600" dirty="0">
                <a:latin typeface="Lucida Console" panose="020B0609040504020204" pitchFamily="49" charset="0"/>
              </a:rPr>
              <a:t>   subtitle=Fuel economy data from 1999 </a:t>
            </a:r>
          </a:p>
          <a:p>
            <a:pPr marL="0" indent="0">
              <a:buNone/>
            </a:pPr>
            <a:r>
              <a:rPr lang="en-US" sz="1600" dirty="0">
                <a:latin typeface="Lucida Console" panose="020B0609040504020204" pitchFamily="49" charset="0"/>
              </a:rPr>
              <a:t>   and 2008 for 38 popular models of cars",</a:t>
            </a:r>
          </a:p>
          <a:p>
            <a:pPr marL="0" indent="0">
              <a:buNone/>
            </a:pPr>
            <a:r>
              <a:rPr lang="en-US" sz="1600" dirty="0">
                <a:latin typeface="Lucida Console" panose="020B0609040504020204" pitchFamily="49" charset="0"/>
              </a:rPr>
              <a:t>   x="Engine power (</a:t>
            </a:r>
            <a:r>
              <a:rPr lang="en-US" sz="1600" dirty="0" err="1">
                <a:latin typeface="Lucida Console" panose="020B0609040504020204" pitchFamily="49" charset="0"/>
              </a:rPr>
              <a:t>litres</a:t>
            </a:r>
            <a:r>
              <a:rPr lang="en-US" sz="1600" dirty="0">
                <a:latin typeface="Lucida Console" panose="020B0609040504020204" pitchFamily="49" charset="0"/>
              </a:rPr>
              <a:t> displacement)",</a:t>
            </a:r>
          </a:p>
          <a:p>
            <a:pPr marL="0" indent="0">
              <a:buNone/>
            </a:pPr>
            <a:r>
              <a:rPr lang="en-US" sz="1600" dirty="0">
                <a:latin typeface="Lucida Console" panose="020B0609040504020204" pitchFamily="49" charset="0"/>
              </a:rPr>
              <a:t>   y="Fuel Efficiency (miles per gallon)",</a:t>
            </a:r>
          </a:p>
          <a:p>
            <a:pPr marL="0" indent="0">
              <a:buNone/>
            </a:pPr>
            <a:r>
              <a:rPr lang="en-US" sz="1600" dirty="0">
                <a:latin typeface="Lucida Console" panose="020B0609040504020204" pitchFamily="49" charset="0"/>
              </a:rPr>
              <a:t>   color="Car Type")</a:t>
            </a:r>
          </a:p>
          <a:p>
            <a:pPr marL="0" indent="0">
              <a:buNone/>
            </a:pPr>
            <a:endParaRPr lang="en-US" dirty="0"/>
          </a:p>
        </p:txBody>
      </p:sp>
      <p:pic>
        <p:nvPicPr>
          <p:cNvPr id="5" name="Picture 4">
            <a:extLst>
              <a:ext uri="{FF2B5EF4-FFF2-40B4-BE49-F238E27FC236}">
                <a16:creationId xmlns:a16="http://schemas.microsoft.com/office/drawing/2014/main" id="{D4E4F97F-5FC4-438E-B619-B1D28DF47D58}"/>
              </a:ext>
            </a:extLst>
          </p:cNvPr>
          <p:cNvPicPr>
            <a:picLocks noChangeAspect="1"/>
          </p:cNvPicPr>
          <p:nvPr/>
        </p:nvPicPr>
        <p:blipFill>
          <a:blip r:embed="rId2"/>
          <a:stretch>
            <a:fillRect/>
          </a:stretch>
        </p:blipFill>
        <p:spPr>
          <a:xfrm>
            <a:off x="6872585" y="2595778"/>
            <a:ext cx="4761905" cy="3438095"/>
          </a:xfrm>
          <a:prstGeom prst="rect">
            <a:avLst/>
          </a:prstGeom>
        </p:spPr>
      </p:pic>
    </p:spTree>
    <p:extLst>
      <p:ext uri="{BB962C8B-B14F-4D97-AF65-F5344CB8AC3E}">
        <p14:creationId xmlns:p14="http://schemas.microsoft.com/office/powerpoint/2010/main" val="25300184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4B2364F-EECA-46D5-A1AD-5B2517D27392}"/>
              </a:ext>
            </a:extLst>
          </p:cNvPr>
          <p:cNvSpPr>
            <a:spLocks noGrp="1"/>
          </p:cNvSpPr>
          <p:nvPr>
            <p:ph type="title"/>
          </p:nvPr>
        </p:nvSpPr>
        <p:spPr>
          <a:xfrm>
            <a:off x="838200" y="365126"/>
            <a:ext cx="10515600" cy="977900"/>
          </a:xfrm>
        </p:spPr>
        <p:txBody>
          <a:bodyPr>
            <a:normAutofit/>
          </a:bodyPr>
          <a:lstStyle/>
          <a:p>
            <a:pPr algn="ctr"/>
            <a:r>
              <a:rPr lang="en-US" sz="3800" dirty="0">
                <a:latin typeface="Arial" panose="020B0604020202020204" pitchFamily="34" charset="0"/>
                <a:cs typeface="Arial" panose="020B0604020202020204" pitchFamily="34" charset="0"/>
              </a:rPr>
              <a:t>Labels and Annotations</a:t>
            </a:r>
          </a:p>
        </p:txBody>
      </p:sp>
      <p:sp>
        <p:nvSpPr>
          <p:cNvPr id="6" name="Content Placeholder 5">
            <a:extLst>
              <a:ext uri="{FF2B5EF4-FFF2-40B4-BE49-F238E27FC236}">
                <a16:creationId xmlns:a16="http://schemas.microsoft.com/office/drawing/2014/main" id="{BBFE9655-5E9D-4F7D-B6F9-E570E646DB22}"/>
              </a:ext>
            </a:extLst>
          </p:cNvPr>
          <p:cNvSpPr>
            <a:spLocks noGrp="1"/>
          </p:cNvSpPr>
          <p:nvPr>
            <p:ph idx="1"/>
          </p:nvPr>
        </p:nvSpPr>
        <p:spPr>
          <a:xfrm>
            <a:off x="628650" y="1152525"/>
            <a:ext cx="11391901" cy="5205412"/>
          </a:xfrm>
        </p:spPr>
        <p:txBody>
          <a:bodyPr>
            <a:normAutofit/>
          </a:bodyPr>
          <a:lstStyle/>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Add labels into the plot itself (i.e., label each point or line) by adding a new </a:t>
            </a:r>
            <a:r>
              <a:rPr lang="en-US" sz="2000" dirty="0" err="1">
                <a:latin typeface="Arial" panose="020B0604020202020204" pitchFamily="34" charset="0"/>
                <a:cs typeface="Arial" panose="020B0604020202020204" pitchFamily="34" charset="0"/>
              </a:rPr>
              <a:t>geom_text</a:t>
            </a:r>
            <a:r>
              <a:rPr lang="en-US" sz="2000" dirty="0">
                <a:latin typeface="Arial" panose="020B0604020202020204" pitchFamily="34" charset="0"/>
                <a:cs typeface="Arial" panose="020B0604020202020204" pitchFamily="34" charset="0"/>
              </a:rPr>
              <a:t> or </a:t>
            </a:r>
            <a:r>
              <a:rPr lang="en-US" sz="2000" dirty="0" err="1">
                <a:latin typeface="Arial" panose="020B0604020202020204" pitchFamily="34" charset="0"/>
                <a:cs typeface="Arial" panose="020B0604020202020204" pitchFamily="34" charset="0"/>
              </a:rPr>
              <a:t>geom_label</a:t>
            </a:r>
            <a:r>
              <a:rPr lang="en-US" sz="2000" dirty="0">
                <a:latin typeface="Arial" panose="020B0604020202020204" pitchFamily="34" charset="0"/>
                <a:cs typeface="Arial" panose="020B0604020202020204" pitchFamily="34" charset="0"/>
              </a:rPr>
              <a:t> to the plot. In other words, plot an extra set of data which happen to be variable names</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1600" dirty="0">
                <a:latin typeface="Lucida Console" panose="020B0609040504020204" pitchFamily="49" charset="0"/>
              </a:rPr>
              <a:t>#create table of each car that has best efficiency of its type</a:t>
            </a:r>
          </a:p>
          <a:p>
            <a:pPr marL="0" indent="0">
              <a:buNone/>
            </a:pPr>
            <a:r>
              <a:rPr lang="en-US" sz="1600" dirty="0">
                <a:latin typeface="Lucida Console" panose="020B0609040504020204" pitchFamily="49" charset="0"/>
              </a:rPr>
              <a:t>library(</a:t>
            </a:r>
            <a:r>
              <a:rPr lang="en-US" sz="1600" dirty="0" err="1">
                <a:latin typeface="Lucida Console" panose="020B0609040504020204" pitchFamily="49" charset="0"/>
              </a:rPr>
              <a:t>dplyr</a:t>
            </a:r>
            <a:r>
              <a:rPr lang="en-US" sz="1600" dirty="0">
                <a:latin typeface="Lucida Console" panose="020B0609040504020204" pitchFamily="49" charset="0"/>
              </a:rPr>
              <a:t>)</a:t>
            </a:r>
          </a:p>
          <a:p>
            <a:pPr marL="0" indent="0">
              <a:buNone/>
            </a:pPr>
            <a:r>
              <a:rPr lang="en-US" sz="1600" dirty="0" err="1">
                <a:latin typeface="Lucida Console" panose="020B0609040504020204" pitchFamily="49" charset="0"/>
              </a:rPr>
              <a:t>best_in_class</a:t>
            </a:r>
            <a:r>
              <a:rPr lang="en-US" sz="1600" dirty="0">
                <a:latin typeface="Lucida Console" panose="020B0609040504020204" pitchFamily="49" charset="0"/>
              </a:rPr>
              <a:t>&lt;-mpg %&gt;% </a:t>
            </a:r>
            <a:r>
              <a:rPr lang="en-US" sz="1600" dirty="0" err="1">
                <a:latin typeface="Lucida Console" panose="020B0609040504020204" pitchFamily="49" charset="0"/>
              </a:rPr>
              <a:t>group_by</a:t>
            </a:r>
            <a:r>
              <a:rPr lang="en-US" sz="1600" dirty="0">
                <a:latin typeface="Lucida Console" panose="020B0609040504020204" pitchFamily="49" charset="0"/>
              </a:rPr>
              <a:t>(class)</a:t>
            </a:r>
          </a:p>
          <a:p>
            <a:pPr marL="0" indent="0">
              <a:buNone/>
            </a:pPr>
            <a:r>
              <a:rPr lang="en-US" sz="1600" dirty="0">
                <a:latin typeface="Lucida Console" panose="020B0609040504020204" pitchFamily="49" charset="0"/>
              </a:rPr>
              <a:t> %&gt;% filter(</a:t>
            </a:r>
            <a:r>
              <a:rPr lang="en-US" sz="1600" dirty="0" err="1">
                <a:latin typeface="Lucida Console" panose="020B0609040504020204" pitchFamily="49" charset="0"/>
              </a:rPr>
              <a:t>row_number</a:t>
            </a:r>
            <a:r>
              <a:rPr lang="en-US" sz="1600" dirty="0">
                <a:latin typeface="Lucida Console" panose="020B0609040504020204" pitchFamily="49" charset="0"/>
              </a:rPr>
              <a:t>(</a:t>
            </a:r>
            <a:r>
              <a:rPr lang="en-US" sz="1600" dirty="0" err="1">
                <a:latin typeface="Lucida Console" panose="020B0609040504020204" pitchFamily="49" charset="0"/>
              </a:rPr>
              <a:t>desc</a:t>
            </a:r>
            <a:r>
              <a:rPr lang="en-US" sz="1600" dirty="0">
                <a:latin typeface="Lucida Console" panose="020B0609040504020204" pitchFamily="49" charset="0"/>
              </a:rPr>
              <a:t>(</a:t>
            </a:r>
            <a:r>
              <a:rPr lang="en-US" sz="1600" dirty="0" err="1">
                <a:latin typeface="Lucida Console" panose="020B0609040504020204" pitchFamily="49" charset="0"/>
              </a:rPr>
              <a:t>hwy</a:t>
            </a:r>
            <a:r>
              <a:rPr lang="en-US" sz="1600" dirty="0">
                <a:latin typeface="Lucida Console" panose="020B0609040504020204" pitchFamily="49" charset="0"/>
              </a:rPr>
              <a:t>))==1)</a:t>
            </a:r>
          </a:p>
          <a:p>
            <a:pPr marL="0" indent="0">
              <a:buNone/>
            </a:pPr>
            <a:endParaRPr lang="en-US" sz="1600" dirty="0">
              <a:latin typeface="Lucida Console" panose="020B0609040504020204" pitchFamily="49" charset="0"/>
            </a:endParaRPr>
          </a:p>
          <a:p>
            <a:pPr marL="0" indent="0">
              <a:buNone/>
            </a:pPr>
            <a:r>
              <a:rPr lang="en-US" sz="1600" dirty="0" err="1">
                <a:solidFill>
                  <a:srgbClr val="1A107E"/>
                </a:solidFill>
                <a:latin typeface="Lucida Console" panose="020B0609040504020204" pitchFamily="49" charset="0"/>
              </a:rPr>
              <a:t>ggplot</a:t>
            </a:r>
            <a:r>
              <a:rPr lang="en-US" sz="1600" dirty="0">
                <a:latin typeface="Lucida Console" panose="020B0609040504020204" pitchFamily="49" charset="0"/>
              </a:rPr>
              <a:t>(</a:t>
            </a:r>
            <a:r>
              <a:rPr lang="en-US" sz="1600" dirty="0" err="1">
                <a:latin typeface="Lucida Console" panose="020B0609040504020204" pitchFamily="49" charset="0"/>
              </a:rPr>
              <a:t>mpg,aes</a:t>
            </a:r>
            <a:r>
              <a:rPr lang="en-US" sz="1600" dirty="0">
                <a:latin typeface="Lucida Console" panose="020B0609040504020204" pitchFamily="49" charset="0"/>
              </a:rPr>
              <a:t>(x=</a:t>
            </a:r>
            <a:r>
              <a:rPr lang="en-US" sz="1600" dirty="0" err="1">
                <a:latin typeface="Lucida Console" panose="020B0609040504020204" pitchFamily="49" charset="0"/>
              </a:rPr>
              <a:t>displ,y</a:t>
            </a:r>
            <a:r>
              <a:rPr lang="en-US" sz="1600" dirty="0">
                <a:latin typeface="Lucida Console" panose="020B0609040504020204" pitchFamily="49" charset="0"/>
              </a:rPr>
              <a:t>=</a:t>
            </a:r>
            <a:r>
              <a:rPr lang="en-US" sz="1600" dirty="0" err="1">
                <a:latin typeface="Lucida Console" panose="020B0609040504020204" pitchFamily="49" charset="0"/>
              </a:rPr>
              <a:t>hwy</a:t>
            </a:r>
            <a:r>
              <a:rPr lang="en-US" sz="1600" dirty="0">
                <a:latin typeface="Lucida Console" panose="020B0609040504020204" pitchFamily="49" charset="0"/>
              </a:rPr>
              <a:t>)) </a:t>
            </a:r>
          </a:p>
          <a:p>
            <a:pPr marL="0" indent="0">
              <a:buNone/>
            </a:pPr>
            <a:r>
              <a:rPr lang="en-US" sz="1600" dirty="0">
                <a:latin typeface="Lucida Console" panose="020B0609040504020204" pitchFamily="49" charset="0"/>
              </a:rPr>
              <a:t>+ </a:t>
            </a:r>
            <a:r>
              <a:rPr lang="en-US" sz="1600" dirty="0">
                <a:solidFill>
                  <a:srgbClr val="1A107E"/>
                </a:solidFill>
                <a:latin typeface="Lucida Console" panose="020B0609040504020204" pitchFamily="49" charset="0"/>
              </a:rPr>
              <a:t>geom_point</a:t>
            </a:r>
            <a:r>
              <a:rPr lang="en-US" sz="1600" dirty="0">
                <a:latin typeface="Lucida Console" panose="020B0609040504020204" pitchFamily="49" charset="0"/>
              </a:rPr>
              <a:t>(aes(color=class))</a:t>
            </a:r>
          </a:p>
          <a:p>
            <a:pPr marL="0" indent="0">
              <a:buNone/>
            </a:pPr>
            <a:r>
              <a:rPr lang="en-US" sz="1600" dirty="0">
                <a:latin typeface="Lucida Console" panose="020B0609040504020204" pitchFamily="49" charset="0"/>
              </a:rPr>
              <a:t>+ </a:t>
            </a:r>
            <a:r>
              <a:rPr lang="en-US" sz="1600" dirty="0" err="1">
                <a:solidFill>
                  <a:srgbClr val="1A107E"/>
                </a:solidFill>
                <a:latin typeface="Lucida Console" panose="020B0609040504020204" pitchFamily="49" charset="0"/>
              </a:rPr>
              <a:t>geom_label</a:t>
            </a:r>
            <a:r>
              <a:rPr lang="en-US" sz="1600" dirty="0">
                <a:latin typeface="Lucida Console" panose="020B0609040504020204" pitchFamily="49" charset="0"/>
              </a:rPr>
              <a:t>(data=</a:t>
            </a:r>
            <a:r>
              <a:rPr lang="en-US" sz="1600" dirty="0" err="1">
                <a:latin typeface="Lucida Console" panose="020B0609040504020204" pitchFamily="49" charset="0"/>
              </a:rPr>
              <a:t>best_in_class</a:t>
            </a:r>
            <a:r>
              <a:rPr lang="en-US" sz="1600" dirty="0">
                <a:latin typeface="Lucida Console" panose="020B0609040504020204" pitchFamily="49" charset="0"/>
              </a:rPr>
              <a:t>, </a:t>
            </a:r>
          </a:p>
          <a:p>
            <a:pPr marL="0" indent="0">
              <a:buNone/>
            </a:pPr>
            <a:r>
              <a:rPr lang="en-US" sz="1600" dirty="0">
                <a:latin typeface="Lucida Console" panose="020B0609040504020204" pitchFamily="49" charset="0"/>
              </a:rPr>
              <a:t>  aes(label=model),alpha=0.5)</a:t>
            </a:r>
          </a:p>
        </p:txBody>
      </p:sp>
      <p:pic>
        <p:nvPicPr>
          <p:cNvPr id="8" name="Picture 7">
            <a:extLst>
              <a:ext uri="{FF2B5EF4-FFF2-40B4-BE49-F238E27FC236}">
                <a16:creationId xmlns:a16="http://schemas.microsoft.com/office/drawing/2014/main" id="{23D7C99D-FC79-4F95-ADBE-A69C914E3120}"/>
              </a:ext>
            </a:extLst>
          </p:cNvPr>
          <p:cNvPicPr>
            <a:picLocks noChangeAspect="1"/>
          </p:cNvPicPr>
          <p:nvPr/>
        </p:nvPicPr>
        <p:blipFill>
          <a:blip r:embed="rId2"/>
          <a:stretch>
            <a:fillRect/>
          </a:stretch>
        </p:blipFill>
        <p:spPr>
          <a:xfrm>
            <a:off x="5657850" y="3219450"/>
            <a:ext cx="6115051" cy="3018631"/>
          </a:xfrm>
          <a:prstGeom prst="rect">
            <a:avLst/>
          </a:prstGeom>
        </p:spPr>
      </p:pic>
    </p:spTree>
    <p:extLst>
      <p:ext uri="{BB962C8B-B14F-4D97-AF65-F5344CB8AC3E}">
        <p14:creationId xmlns:p14="http://schemas.microsoft.com/office/powerpoint/2010/main" val="3304078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1C92C-2EA7-4C07-B0A1-244BECA110B0}"/>
              </a:ext>
            </a:extLst>
          </p:cNvPr>
          <p:cNvSpPr>
            <a:spLocks noGrp="1"/>
          </p:cNvSpPr>
          <p:nvPr>
            <p:ph type="title"/>
          </p:nvPr>
        </p:nvSpPr>
        <p:spPr/>
        <p:txBody>
          <a:bodyPr>
            <a:normAutofit/>
          </a:bodyPr>
          <a:lstStyle/>
          <a:p>
            <a:pPr algn="ctr"/>
            <a:r>
              <a:rPr lang="en-US" sz="3800" dirty="0">
                <a:latin typeface="Arial" panose="020B0604020202020204" pitchFamily="34" charset="0"/>
                <a:cs typeface="Arial" panose="020B0604020202020204" pitchFamily="34" charset="0"/>
              </a:rPr>
              <a:t>Labels and Annotations</a:t>
            </a:r>
          </a:p>
        </p:txBody>
      </p:sp>
      <p:sp>
        <p:nvSpPr>
          <p:cNvPr id="3" name="Content Placeholder 2">
            <a:extLst>
              <a:ext uri="{FF2B5EF4-FFF2-40B4-BE49-F238E27FC236}">
                <a16:creationId xmlns:a16="http://schemas.microsoft.com/office/drawing/2014/main" id="{5CEDC523-58E5-4D27-8F54-18E59A7C505F}"/>
              </a:ext>
            </a:extLst>
          </p:cNvPr>
          <p:cNvSpPr>
            <a:spLocks noGrp="1"/>
          </p:cNvSpPr>
          <p:nvPr>
            <p:ph idx="1"/>
          </p:nvPr>
        </p:nvSpPr>
        <p:spPr>
          <a:xfrm>
            <a:off x="838199" y="1471613"/>
            <a:ext cx="10791825" cy="4705350"/>
          </a:xfrm>
        </p:spPr>
        <p:txBody>
          <a:bodyPr>
            <a:normAutofit/>
          </a:bodyPr>
          <a:lstStyle/>
          <a:p>
            <a:pPr marL="0" indent="0">
              <a:buNone/>
            </a:pPr>
            <a:r>
              <a:rPr lang="en-US" sz="2000" dirty="0">
                <a:latin typeface="Arial" panose="020B0604020202020204" pitchFamily="34" charset="0"/>
                <a:cs typeface="Arial" panose="020B0604020202020204" pitchFamily="34" charset="0"/>
              </a:rPr>
              <a:t>To resolve the two labels overlapping one-another in the previous plot, use the </a:t>
            </a:r>
            <a:r>
              <a:rPr lang="en-US" sz="2000" dirty="0" err="1">
                <a:latin typeface="Arial" panose="020B0604020202020204" pitchFamily="34" charset="0"/>
                <a:cs typeface="Arial" panose="020B0604020202020204" pitchFamily="34" charset="0"/>
              </a:rPr>
              <a:t>geom_text_repel</a:t>
            </a:r>
            <a:r>
              <a:rPr lang="en-US" sz="2000" dirty="0">
                <a:latin typeface="Arial" panose="020B0604020202020204" pitchFamily="34" charset="0"/>
                <a:cs typeface="Arial" panose="020B0604020202020204" pitchFamily="34" charset="0"/>
              </a:rPr>
              <a:t> function from the </a:t>
            </a:r>
            <a:r>
              <a:rPr lang="en-US" sz="2000" dirty="0" err="1">
                <a:latin typeface="Lucida Console" panose="020B0609040504020204" pitchFamily="49" charset="0"/>
                <a:cs typeface="Arial" panose="020B0604020202020204" pitchFamily="34" charset="0"/>
              </a:rPr>
              <a:t>ggrepel</a:t>
            </a:r>
            <a:r>
              <a:rPr lang="en-US" sz="2000" dirty="0">
                <a:latin typeface="Lucida Console" panose="020B0609040504020204" pitchFamily="49" charset="0"/>
                <a:cs typeface="Arial" panose="020B0604020202020204" pitchFamily="34" charset="0"/>
              </a:rPr>
              <a:t> </a:t>
            </a:r>
            <a:r>
              <a:rPr lang="en-US" sz="2000" dirty="0">
                <a:latin typeface="Arial" panose="020B0604020202020204" pitchFamily="34" charset="0"/>
                <a:cs typeface="Arial" panose="020B0604020202020204" pitchFamily="34" charset="0"/>
              </a:rPr>
              <a:t>package to re-position labels.</a:t>
            </a:r>
          </a:p>
          <a:p>
            <a:pPr marL="0" indent="0">
              <a:buNone/>
            </a:pPr>
            <a:endParaRPr lang="en-US" sz="1800" dirty="0">
              <a:latin typeface="Lucida Console" panose="020B0609040504020204" pitchFamily="49" charset="0"/>
            </a:endParaRPr>
          </a:p>
          <a:p>
            <a:pPr marL="0" indent="0">
              <a:buNone/>
            </a:pPr>
            <a:r>
              <a:rPr lang="en-US" sz="1800" dirty="0">
                <a:latin typeface="Lucida Console" panose="020B0609040504020204" pitchFamily="49" charset="0"/>
              </a:rPr>
              <a:t>library(</a:t>
            </a:r>
            <a:r>
              <a:rPr lang="en-US" sz="1800" dirty="0" err="1">
                <a:latin typeface="Lucida Console" panose="020B0609040504020204" pitchFamily="49" charset="0"/>
              </a:rPr>
              <a:t>ggrepel</a:t>
            </a:r>
            <a:r>
              <a:rPr lang="en-US" sz="1800" dirty="0">
                <a:latin typeface="Lucida Console" panose="020B0609040504020204" pitchFamily="49" charset="0"/>
              </a:rPr>
              <a:t>)</a:t>
            </a:r>
          </a:p>
          <a:p>
            <a:pPr marL="0" indent="0">
              <a:buNone/>
            </a:pPr>
            <a:r>
              <a:rPr lang="en-US" sz="1800" dirty="0" err="1">
                <a:solidFill>
                  <a:srgbClr val="1A107E"/>
                </a:solidFill>
                <a:latin typeface="Lucida Console" panose="020B0609040504020204" pitchFamily="49" charset="0"/>
              </a:rPr>
              <a:t>ggplot</a:t>
            </a:r>
            <a:r>
              <a:rPr lang="en-US" sz="1800" dirty="0">
                <a:latin typeface="Lucida Console" panose="020B0609040504020204" pitchFamily="49" charset="0"/>
              </a:rPr>
              <a:t>(</a:t>
            </a:r>
            <a:r>
              <a:rPr lang="en-US" sz="1800" dirty="0" err="1">
                <a:latin typeface="Lucida Console" panose="020B0609040504020204" pitchFamily="49" charset="0"/>
              </a:rPr>
              <a:t>mpg,aes</a:t>
            </a:r>
            <a:r>
              <a:rPr lang="en-US" sz="1800" dirty="0">
                <a:latin typeface="Lucida Console" panose="020B0609040504020204" pitchFamily="49" charset="0"/>
              </a:rPr>
              <a:t>(x=</a:t>
            </a:r>
            <a:r>
              <a:rPr lang="en-US" sz="1800" dirty="0" err="1">
                <a:latin typeface="Lucida Console" panose="020B0609040504020204" pitchFamily="49" charset="0"/>
              </a:rPr>
              <a:t>displ,y</a:t>
            </a:r>
            <a:r>
              <a:rPr lang="en-US" sz="1800" dirty="0">
                <a:latin typeface="Lucida Console" panose="020B0609040504020204" pitchFamily="49" charset="0"/>
              </a:rPr>
              <a:t>=</a:t>
            </a:r>
            <a:r>
              <a:rPr lang="en-US" sz="1800" dirty="0" err="1">
                <a:latin typeface="Lucida Console" panose="020B0609040504020204" pitchFamily="49" charset="0"/>
              </a:rPr>
              <a:t>hwy</a:t>
            </a:r>
            <a:r>
              <a:rPr lang="en-US" sz="1800" dirty="0">
                <a:latin typeface="Lucida Console" panose="020B0609040504020204" pitchFamily="49" charset="0"/>
              </a:rPr>
              <a:t>))</a:t>
            </a:r>
          </a:p>
          <a:p>
            <a:pPr marL="0" indent="0">
              <a:buNone/>
            </a:pPr>
            <a:r>
              <a:rPr lang="en-US" sz="1800" dirty="0">
                <a:latin typeface="Lucida Console" panose="020B0609040504020204" pitchFamily="49" charset="0"/>
              </a:rPr>
              <a:t>+ </a:t>
            </a:r>
            <a:r>
              <a:rPr lang="en-US" sz="1800" dirty="0">
                <a:solidFill>
                  <a:srgbClr val="1A107E"/>
                </a:solidFill>
                <a:latin typeface="Lucida Console" panose="020B0609040504020204" pitchFamily="49" charset="0"/>
              </a:rPr>
              <a:t>geom_point</a:t>
            </a:r>
            <a:r>
              <a:rPr lang="en-US" sz="1800" dirty="0">
                <a:latin typeface="Lucida Console" panose="020B0609040504020204" pitchFamily="49" charset="0"/>
              </a:rPr>
              <a:t>(aes(color=class))</a:t>
            </a:r>
          </a:p>
          <a:p>
            <a:pPr marL="0" indent="0">
              <a:buNone/>
            </a:pPr>
            <a:r>
              <a:rPr lang="en-US" sz="1800" dirty="0">
                <a:latin typeface="Lucida Console" panose="020B0609040504020204" pitchFamily="49" charset="0"/>
              </a:rPr>
              <a:t>+ </a:t>
            </a:r>
            <a:r>
              <a:rPr lang="en-US" sz="1800" dirty="0" err="1">
                <a:solidFill>
                  <a:srgbClr val="1A107E"/>
                </a:solidFill>
                <a:latin typeface="Lucida Console" panose="020B0609040504020204" pitchFamily="49" charset="0"/>
              </a:rPr>
              <a:t>geom_text_repel</a:t>
            </a:r>
            <a:r>
              <a:rPr lang="en-US" sz="1800" dirty="0">
                <a:latin typeface="Lucida Console" panose="020B0609040504020204" pitchFamily="49" charset="0"/>
              </a:rPr>
              <a:t>(data=</a:t>
            </a:r>
            <a:r>
              <a:rPr lang="en-US" sz="1800" dirty="0" err="1">
                <a:latin typeface="Lucida Console" panose="020B0609040504020204" pitchFamily="49" charset="0"/>
              </a:rPr>
              <a:t>best_in_class</a:t>
            </a:r>
            <a:r>
              <a:rPr lang="en-US" sz="1800" dirty="0">
                <a:latin typeface="Lucida Console" panose="020B0609040504020204" pitchFamily="49" charset="0"/>
              </a:rPr>
              <a:t>, </a:t>
            </a:r>
          </a:p>
          <a:p>
            <a:pPr marL="0" indent="0">
              <a:buNone/>
            </a:pPr>
            <a:r>
              <a:rPr lang="en-US" sz="1800" dirty="0">
                <a:latin typeface="Lucida Console" panose="020B0609040504020204" pitchFamily="49" charset="0"/>
              </a:rPr>
              <a:t>  aes(label=model))</a:t>
            </a:r>
          </a:p>
        </p:txBody>
      </p:sp>
      <p:pic>
        <p:nvPicPr>
          <p:cNvPr id="6" name="Picture 5">
            <a:extLst>
              <a:ext uri="{FF2B5EF4-FFF2-40B4-BE49-F238E27FC236}">
                <a16:creationId xmlns:a16="http://schemas.microsoft.com/office/drawing/2014/main" id="{E029C4F2-BF9B-457E-AA16-F938E72DF7BA}"/>
              </a:ext>
            </a:extLst>
          </p:cNvPr>
          <p:cNvPicPr>
            <a:picLocks noChangeAspect="1"/>
          </p:cNvPicPr>
          <p:nvPr/>
        </p:nvPicPr>
        <p:blipFill>
          <a:blip r:embed="rId2"/>
          <a:stretch>
            <a:fillRect/>
          </a:stretch>
        </p:blipFill>
        <p:spPr>
          <a:xfrm>
            <a:off x="5888108" y="2667000"/>
            <a:ext cx="5622516" cy="3200206"/>
          </a:xfrm>
          <a:prstGeom prst="rect">
            <a:avLst/>
          </a:prstGeom>
        </p:spPr>
      </p:pic>
    </p:spTree>
    <p:extLst>
      <p:ext uri="{BB962C8B-B14F-4D97-AF65-F5344CB8AC3E}">
        <p14:creationId xmlns:p14="http://schemas.microsoft.com/office/powerpoint/2010/main" val="116402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61624-56D4-4B6C-A62F-BEEA02EF70F2}"/>
              </a:ext>
            </a:extLst>
          </p:cNvPr>
          <p:cNvSpPr>
            <a:spLocks noGrp="1"/>
          </p:cNvSpPr>
          <p:nvPr>
            <p:ph type="title"/>
          </p:nvPr>
        </p:nvSpPr>
        <p:spPr/>
        <p:txBody>
          <a:bodyPr>
            <a:normAutofit/>
          </a:bodyPr>
          <a:lstStyle/>
          <a:p>
            <a:pPr algn="ctr"/>
            <a:r>
              <a:rPr lang="en-US" sz="3800" dirty="0">
                <a:latin typeface="Arial" panose="020B0604020202020204" pitchFamily="34" charset="0"/>
                <a:cs typeface="Arial" panose="020B0604020202020204" pitchFamily="34" charset="0"/>
              </a:rPr>
              <a:t>Resources</a:t>
            </a:r>
          </a:p>
        </p:txBody>
      </p:sp>
      <p:sp>
        <p:nvSpPr>
          <p:cNvPr id="4" name="Rectangle 1">
            <a:extLst>
              <a:ext uri="{FF2B5EF4-FFF2-40B4-BE49-F238E27FC236}">
                <a16:creationId xmlns:a16="http://schemas.microsoft.com/office/drawing/2014/main" id="{A455F34F-C797-4E70-8620-C4BE2876023C}"/>
              </a:ext>
            </a:extLst>
          </p:cNvPr>
          <p:cNvSpPr>
            <a:spLocks noGrp="1" noChangeArrowheads="1"/>
          </p:cNvSpPr>
          <p:nvPr>
            <p:ph idx="1"/>
          </p:nvPr>
        </p:nvSpPr>
        <p:spPr bwMode="auto">
          <a:xfrm>
            <a:off x="838201" y="1890883"/>
            <a:ext cx="10880414" cy="33547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kumimoji="0" lang="en-US" altLang="en-US" sz="2600" b="0" i="0" strike="noStrike" cap="none" normalizeH="0" baseline="0" dirty="0">
                <a:ln>
                  <a:noFill/>
                </a:ln>
                <a:solidFill>
                  <a:srgbClr val="1A107E"/>
                </a:solidFill>
                <a:effectLst/>
                <a:latin typeface="inherit"/>
                <a:hlinkClick r:id="rId2"/>
              </a:rPr>
              <a:t>General ggplot2 information</a:t>
            </a:r>
            <a:r>
              <a:rPr kumimoji="0" lang="en-US" altLang="en-US" sz="2600" b="0" i="0" strike="noStrike" cap="none" normalizeH="0" baseline="0" dirty="0">
                <a:ln>
                  <a:noFill/>
                </a:ln>
                <a:solidFill>
                  <a:srgbClr val="1A107E"/>
                </a:solidFill>
                <a:effectLst/>
                <a:latin typeface="inherit"/>
              </a:rPr>
              <a:t> </a:t>
            </a:r>
          </a:p>
          <a:p>
            <a:pPr marL="457200" lvl="1" indent="0" eaLnBrk="0" fontAlgn="base" hangingPunct="0">
              <a:lnSpc>
                <a:spcPct val="100000"/>
              </a:lnSpc>
              <a:spcBef>
                <a:spcPct val="0"/>
              </a:spcBef>
              <a:spcAft>
                <a:spcPct val="0"/>
              </a:spcAft>
              <a:buFontTx/>
              <a:buChar char="•"/>
            </a:pPr>
            <a:r>
              <a:rPr lang="en-US" sz="2000" dirty="0">
                <a:hlinkClick r:id="rId2"/>
              </a:rPr>
              <a:t>http://ggplot2.tidyverse.org/</a:t>
            </a:r>
            <a:endParaRPr kumimoji="0" lang="en-US" altLang="en-US" sz="2200" b="0" i="0" u="none" strike="noStrike" cap="none" normalizeH="0" baseline="0" dirty="0">
              <a:ln>
                <a:noFill/>
              </a:ln>
              <a:solidFill>
                <a:srgbClr val="1A107E"/>
              </a:solidFill>
              <a:effectLst/>
              <a:latin typeface="Lato"/>
            </a:endParaRPr>
          </a:p>
          <a:p>
            <a:pPr marL="0" indent="0" eaLnBrk="0" fontAlgn="base" hangingPunct="0">
              <a:lnSpc>
                <a:spcPct val="100000"/>
              </a:lnSpc>
              <a:spcBef>
                <a:spcPct val="0"/>
              </a:spcBef>
              <a:spcAft>
                <a:spcPct val="0"/>
              </a:spcAft>
              <a:buFontTx/>
              <a:buChar char="•"/>
            </a:pPr>
            <a:r>
              <a:rPr kumimoji="0" lang="en-US" altLang="en-US" sz="2600" b="0" i="0" u="none" strike="noStrike" cap="none" normalizeH="0" baseline="0" dirty="0">
                <a:ln>
                  <a:noFill/>
                </a:ln>
                <a:solidFill>
                  <a:srgbClr val="1A107E"/>
                </a:solidFill>
                <a:effectLst/>
                <a:latin typeface="inherit"/>
                <a:hlinkClick r:id="rId3"/>
              </a:rPr>
              <a:t>R Graphics Cookbook (recipes for plots)</a:t>
            </a:r>
            <a:endParaRPr kumimoji="0" lang="en-US" altLang="en-US" sz="2600" b="0" i="0" u="none" strike="noStrike" cap="none" normalizeH="0" baseline="0" dirty="0">
              <a:ln>
                <a:noFill/>
              </a:ln>
              <a:solidFill>
                <a:srgbClr val="1A107E"/>
              </a:solidFill>
              <a:effectLst/>
              <a:latin typeface="Lato"/>
            </a:endParaRPr>
          </a:p>
          <a:p>
            <a:pPr marL="0" indent="0" eaLnBrk="0" fontAlgn="base" hangingPunct="0">
              <a:lnSpc>
                <a:spcPct val="100000"/>
              </a:lnSpc>
              <a:spcBef>
                <a:spcPct val="0"/>
              </a:spcBef>
              <a:spcAft>
                <a:spcPct val="0"/>
              </a:spcAft>
              <a:buFontTx/>
              <a:buChar char="•"/>
            </a:pPr>
            <a:r>
              <a:rPr kumimoji="0" lang="en-US" altLang="en-US" sz="2600" b="0" i="0" u="none" strike="noStrike" cap="none" normalizeH="0" baseline="0" dirty="0">
                <a:ln>
                  <a:noFill/>
                </a:ln>
                <a:solidFill>
                  <a:srgbClr val="1A107E"/>
                </a:solidFill>
                <a:effectLst/>
                <a:latin typeface="inherit"/>
                <a:hlinkClick r:id="rId4"/>
              </a:rPr>
              <a:t>ggplot2: Elegant Graphs for Data Analysis (book by Hadley Wickham)</a:t>
            </a:r>
            <a:endParaRPr kumimoji="0" lang="en-US" altLang="en-US" sz="2600" b="0" i="0" u="none" strike="noStrike" cap="none" normalizeH="0" baseline="0" dirty="0">
              <a:ln>
                <a:noFill/>
              </a:ln>
              <a:solidFill>
                <a:srgbClr val="1A107E"/>
              </a:solidFill>
              <a:effectLst/>
              <a:latin typeface="Lato"/>
            </a:endParaRPr>
          </a:p>
          <a:p>
            <a:pPr marL="0" indent="0" eaLnBrk="0" fontAlgn="base" hangingPunct="0">
              <a:lnSpc>
                <a:spcPct val="100000"/>
              </a:lnSpc>
              <a:spcBef>
                <a:spcPct val="0"/>
              </a:spcBef>
              <a:spcAft>
                <a:spcPct val="0"/>
              </a:spcAft>
              <a:buFontTx/>
              <a:buChar char="•"/>
            </a:pPr>
            <a:r>
              <a:rPr kumimoji="0" lang="en-US" altLang="en-US" sz="2600" b="0" i="0" u="none" strike="noStrike" cap="none" normalizeH="0" baseline="0" dirty="0">
                <a:ln>
                  <a:noFill/>
                </a:ln>
                <a:solidFill>
                  <a:srgbClr val="1A107E"/>
                </a:solidFill>
                <a:effectLst/>
                <a:latin typeface="inherit"/>
                <a:hlinkClick r:id="rId5"/>
              </a:rPr>
              <a:t>ggplot2 </a:t>
            </a:r>
            <a:r>
              <a:rPr kumimoji="0" lang="en-US" altLang="en-US" sz="2600" b="0" i="0" u="none" strike="noStrike" cap="none" normalizeH="0" baseline="0" dirty="0" err="1">
                <a:ln>
                  <a:noFill/>
                </a:ln>
                <a:solidFill>
                  <a:srgbClr val="1A107E"/>
                </a:solidFill>
                <a:effectLst/>
                <a:latin typeface="inherit"/>
                <a:hlinkClick r:id="rId5"/>
              </a:rPr>
              <a:t>cheatsheet</a:t>
            </a:r>
            <a:r>
              <a:rPr kumimoji="0" lang="en-US" altLang="en-US" sz="2600" b="0" i="0" u="none" strike="noStrike" cap="none" normalizeH="0" baseline="0" dirty="0">
                <a:ln>
                  <a:noFill/>
                </a:ln>
                <a:solidFill>
                  <a:srgbClr val="1A107E"/>
                </a:solidFill>
                <a:effectLst/>
                <a:latin typeface="inherit"/>
                <a:hlinkClick r:id="rId5"/>
              </a:rPr>
              <a:t> (also in </a:t>
            </a:r>
            <a:r>
              <a:rPr kumimoji="0" lang="en-US" altLang="en-US" sz="2600" b="0" i="0" u="none" strike="noStrike" cap="none" normalizeH="0" baseline="0" dirty="0" err="1">
                <a:ln>
                  <a:noFill/>
                </a:ln>
                <a:solidFill>
                  <a:srgbClr val="1A107E"/>
                </a:solidFill>
                <a:effectLst/>
                <a:latin typeface="inherit"/>
                <a:hlinkClick r:id="rId5"/>
              </a:rPr>
              <a:t>RStudio</a:t>
            </a:r>
            <a:r>
              <a:rPr kumimoji="0" lang="en-US" altLang="en-US" sz="2600" b="0" i="0" u="none" strike="noStrike" cap="none" normalizeH="0" baseline="0" dirty="0">
                <a:ln>
                  <a:noFill/>
                </a:ln>
                <a:solidFill>
                  <a:srgbClr val="1A107E"/>
                </a:solidFill>
                <a:effectLst/>
                <a:latin typeface="inherit"/>
                <a:hlinkClick r:id="rId5"/>
              </a:rPr>
              <a:t>)</a:t>
            </a:r>
            <a:r>
              <a:rPr kumimoji="0" lang="en-US" altLang="en-US" sz="2600" b="0" i="0" u="none" strike="noStrike" cap="none" normalizeH="0" baseline="0" dirty="0">
                <a:ln>
                  <a:noFill/>
                </a:ln>
                <a:solidFill>
                  <a:srgbClr val="1A107E"/>
                </a:solidFill>
                <a:effectLst/>
                <a:latin typeface="inherit"/>
              </a:rPr>
              <a:t> </a:t>
            </a:r>
          </a:p>
          <a:p>
            <a:pPr marL="457200" lvl="1" indent="0" eaLnBrk="0" fontAlgn="base" hangingPunct="0">
              <a:lnSpc>
                <a:spcPct val="100000"/>
              </a:lnSpc>
              <a:spcBef>
                <a:spcPct val="0"/>
              </a:spcBef>
              <a:spcAft>
                <a:spcPct val="0"/>
              </a:spcAft>
              <a:buFontTx/>
              <a:buChar char="•"/>
            </a:pPr>
            <a:r>
              <a:rPr lang="en-US" sz="2000" dirty="0">
                <a:hlinkClick r:id="rId5"/>
              </a:rPr>
              <a:t>http://bit.ly/ggplot2-cheatsheet</a:t>
            </a:r>
            <a:endParaRPr kumimoji="0" lang="en-US" altLang="en-US" sz="2200" b="0" i="0" u="none" strike="noStrike" cap="none" normalizeH="0" baseline="0" dirty="0">
              <a:ln>
                <a:noFill/>
              </a:ln>
              <a:solidFill>
                <a:srgbClr val="1A107E"/>
              </a:solidFill>
              <a:effectLst/>
              <a:latin typeface="Lato"/>
            </a:endParaRPr>
          </a:p>
          <a:p>
            <a:pPr marL="0" indent="0" eaLnBrk="0" fontAlgn="base" hangingPunct="0">
              <a:lnSpc>
                <a:spcPct val="100000"/>
              </a:lnSpc>
              <a:spcBef>
                <a:spcPct val="0"/>
              </a:spcBef>
              <a:spcAft>
                <a:spcPct val="0"/>
              </a:spcAft>
              <a:buFontTx/>
              <a:buChar char="•"/>
            </a:pPr>
            <a:r>
              <a:rPr kumimoji="0" lang="en-US" altLang="en-US" sz="2600" b="0" i="0" u="none" strike="noStrike" cap="none" normalizeH="0" baseline="0" dirty="0">
                <a:ln>
                  <a:noFill/>
                </a:ln>
                <a:solidFill>
                  <a:srgbClr val="1A107E"/>
                </a:solidFill>
                <a:effectLst/>
                <a:latin typeface="inherit"/>
                <a:hlinkClick r:id="rId6"/>
              </a:rPr>
              <a:t>R for Data Science (online book that includes ggplot2)</a:t>
            </a:r>
            <a:endParaRPr kumimoji="0" lang="en-US" altLang="en-US" sz="2600" b="0" i="0" u="none" strike="noStrike" cap="none" normalizeH="0" baseline="0" dirty="0">
              <a:ln>
                <a:noFill/>
              </a:ln>
              <a:solidFill>
                <a:srgbClr val="1A107E"/>
              </a:solidFill>
              <a:effectLst/>
              <a:latin typeface="inherit"/>
            </a:endParaRPr>
          </a:p>
          <a:p>
            <a:pPr marL="457200" lvl="1" indent="0" eaLnBrk="0" fontAlgn="base" hangingPunct="0">
              <a:lnSpc>
                <a:spcPct val="100000"/>
              </a:lnSpc>
              <a:spcBef>
                <a:spcPct val="0"/>
              </a:spcBef>
              <a:spcAft>
                <a:spcPct val="0"/>
              </a:spcAft>
              <a:buFontTx/>
              <a:buChar char="•"/>
            </a:pPr>
            <a:r>
              <a:rPr kumimoji="0" lang="en-US" altLang="en-US" sz="2200" b="0" i="0" u="none" strike="noStrike" cap="none" normalizeH="0" baseline="0" dirty="0">
                <a:ln>
                  <a:noFill/>
                </a:ln>
                <a:solidFill>
                  <a:srgbClr val="1A107E"/>
                </a:solidFill>
                <a:effectLst/>
              </a:rPr>
              <a:t> </a:t>
            </a:r>
            <a:r>
              <a:rPr lang="en-US" sz="2000" dirty="0">
                <a:hlinkClick r:id="rId6"/>
              </a:rPr>
              <a:t>http://r4ds.had.co.nz/</a:t>
            </a:r>
            <a:endParaRPr kumimoji="0" lang="en-US" altLang="en-US" sz="1800" b="0" i="0" u="none" strike="noStrike" cap="none" normalizeH="0" baseline="0" dirty="0">
              <a:ln>
                <a:noFill/>
              </a:ln>
              <a:solidFill>
                <a:srgbClr val="1A107E"/>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400" dirty="0">
              <a:solidFill>
                <a:srgbClr val="1A107E"/>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87691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1926</TotalTime>
  <Words>2014</Words>
  <Application>Microsoft Office PowerPoint</Application>
  <PresentationFormat>Widescreen</PresentationFormat>
  <Paragraphs>201</Paragraphs>
  <Slides>23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Arial Black</vt:lpstr>
      <vt:lpstr>Calibri</vt:lpstr>
      <vt:lpstr>Calibri Light</vt:lpstr>
      <vt:lpstr>inherit</vt:lpstr>
      <vt:lpstr>Lato</vt:lpstr>
      <vt:lpstr>Lucida Console</vt:lpstr>
      <vt:lpstr>Wingdings</vt:lpstr>
      <vt:lpstr>Office Theme</vt:lpstr>
      <vt:lpstr>R Basics:  Data Visualization with ggplot2  </vt:lpstr>
      <vt:lpstr>R Package: ggplot2</vt:lpstr>
      <vt:lpstr>ggplot2</vt:lpstr>
      <vt:lpstr>Base R plot </vt:lpstr>
      <vt:lpstr>ggplot2 </vt:lpstr>
      <vt:lpstr>Grammar Defines Components of Graphics </vt:lpstr>
      <vt:lpstr>Installation </vt:lpstr>
      <vt:lpstr>ggplot2: Basic Idea</vt:lpstr>
      <vt:lpstr>ggplot2</vt:lpstr>
      <vt:lpstr>Aesthetic Mappings </vt:lpstr>
      <vt:lpstr>Types of Geoms </vt:lpstr>
      <vt:lpstr>Geoms</vt:lpstr>
      <vt:lpstr>More on Geoms</vt:lpstr>
      <vt:lpstr>Geom and Aesthetics </vt:lpstr>
      <vt:lpstr>Aesthetics and Geoms </vt:lpstr>
      <vt:lpstr>Statistical Transformations </vt:lpstr>
      <vt:lpstr> Adding layers by calling stat_functions directly </vt:lpstr>
      <vt:lpstr> Facets </vt:lpstr>
      <vt:lpstr>Facets</vt:lpstr>
      <vt:lpstr> Labels &amp; Annotations </vt:lpstr>
      <vt:lpstr>Labels and Annotations</vt:lpstr>
      <vt:lpstr>Labels and Annotations</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 Basics ggplot2 Introduction to R graphics with ggplot 2  </dc:title>
  <dc:creator>The Happiest Guy</dc:creator>
  <cp:lastModifiedBy>The Happiest Guy</cp:lastModifiedBy>
  <cp:revision>104</cp:revision>
  <dcterms:created xsi:type="dcterms:W3CDTF">2018-01-09T19:00:07Z</dcterms:created>
  <dcterms:modified xsi:type="dcterms:W3CDTF">2018-01-11T03:32:00Z</dcterms:modified>
</cp:coreProperties>
</file>